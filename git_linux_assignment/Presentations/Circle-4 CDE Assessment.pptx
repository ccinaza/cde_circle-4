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Inter" charset="1" panose="020B0502030000000004"/>
      <p:regular r:id="rId20"/>
    </p:embeddedFont>
    <p:embeddedFont>
      <p:font typeface="Poppins Bold" charset="1" panose="00000800000000000000"/>
      <p:regular r:id="rId21"/>
    </p:embeddedFont>
    <p:embeddedFont>
      <p:font typeface="Poppins" charset="1" panose="00000500000000000000"/>
      <p:regular r:id="rId22"/>
    </p:embeddedFont>
    <p:embeddedFont>
      <p:font typeface="Inter Bold" charset="1" panose="020B0802030000000004"/>
      <p:regular r:id="rId23"/>
    </p:embeddedFont>
    <p:embeddedFont>
      <p:font typeface="Inter Bold Italics" charset="1" panose="020B080203000000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3C00C"/>
        </a:solidFill>
      </p:bgPr>
    </p:bg>
    <p:spTree>
      <p:nvGrpSpPr>
        <p:cNvPr id="1" name=""/>
        <p:cNvGrpSpPr/>
        <p:nvPr/>
      </p:nvGrpSpPr>
      <p:grpSpPr>
        <a:xfrm>
          <a:off x="0" y="0"/>
          <a:ext cx="0" cy="0"/>
          <a:chOff x="0" y="0"/>
          <a:chExt cx="0" cy="0"/>
        </a:xfrm>
      </p:grpSpPr>
      <p:grpSp>
        <p:nvGrpSpPr>
          <p:cNvPr name="Group 2" id="2"/>
          <p:cNvGrpSpPr/>
          <p:nvPr/>
        </p:nvGrpSpPr>
        <p:grpSpPr>
          <a:xfrm rot="0">
            <a:off x="2176782" y="2561050"/>
            <a:ext cx="13934435" cy="4580238"/>
            <a:chOff x="0" y="0"/>
            <a:chExt cx="3669975" cy="1206318"/>
          </a:xfrm>
        </p:grpSpPr>
        <p:sp>
          <p:nvSpPr>
            <p:cNvPr name="Freeform 3" id="3"/>
            <p:cNvSpPr/>
            <p:nvPr/>
          </p:nvSpPr>
          <p:spPr>
            <a:xfrm flipH="false" flipV="false" rot="0">
              <a:off x="0" y="0"/>
              <a:ext cx="3669975" cy="1206318"/>
            </a:xfrm>
            <a:custGeom>
              <a:avLst/>
              <a:gdLst/>
              <a:ahLst/>
              <a:cxnLst/>
              <a:rect r="r" b="b" t="t" l="l"/>
              <a:pathLst>
                <a:path h="1206318" w="3669975">
                  <a:moveTo>
                    <a:pt x="0" y="0"/>
                  </a:moveTo>
                  <a:lnTo>
                    <a:pt x="3669975" y="0"/>
                  </a:lnTo>
                  <a:lnTo>
                    <a:pt x="3669975" y="1206318"/>
                  </a:lnTo>
                  <a:lnTo>
                    <a:pt x="0" y="1206318"/>
                  </a:lnTo>
                  <a:close/>
                </a:path>
              </a:pathLst>
            </a:custGeom>
            <a:solidFill>
              <a:srgbClr val="000000">
                <a:alpha val="0"/>
              </a:srgbClr>
            </a:solidFill>
            <a:ln w="38100" cap="sq">
              <a:solidFill>
                <a:srgbClr val="597E52"/>
              </a:solidFill>
              <a:prstDash val="solid"/>
              <a:miter/>
            </a:ln>
          </p:spPr>
        </p:sp>
        <p:sp>
          <p:nvSpPr>
            <p:cNvPr name="TextBox 4" id="4"/>
            <p:cNvSpPr txBox="true"/>
            <p:nvPr/>
          </p:nvSpPr>
          <p:spPr>
            <a:xfrm>
              <a:off x="0" y="-38100"/>
              <a:ext cx="3669975" cy="124441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14252" y="8642679"/>
            <a:ext cx="19716503" cy="1274666"/>
            <a:chOff x="0" y="0"/>
            <a:chExt cx="5192824" cy="335714"/>
          </a:xfrm>
        </p:grpSpPr>
        <p:sp>
          <p:nvSpPr>
            <p:cNvPr name="Freeform 6" id="6"/>
            <p:cNvSpPr/>
            <p:nvPr/>
          </p:nvSpPr>
          <p:spPr>
            <a:xfrm flipH="false" flipV="false" rot="0">
              <a:off x="0" y="0"/>
              <a:ext cx="5192824" cy="335714"/>
            </a:xfrm>
            <a:custGeom>
              <a:avLst/>
              <a:gdLst/>
              <a:ahLst/>
              <a:cxnLst/>
              <a:rect r="r" b="b" t="t" l="l"/>
              <a:pathLst>
                <a:path h="335714" w="5192824">
                  <a:moveTo>
                    <a:pt x="0" y="0"/>
                  </a:moveTo>
                  <a:lnTo>
                    <a:pt x="5192824" y="0"/>
                  </a:lnTo>
                  <a:lnTo>
                    <a:pt x="5192824" y="335714"/>
                  </a:lnTo>
                  <a:lnTo>
                    <a:pt x="0" y="335714"/>
                  </a:lnTo>
                  <a:close/>
                </a:path>
              </a:pathLst>
            </a:custGeom>
            <a:solidFill>
              <a:srgbClr val="597E52"/>
            </a:solidFill>
          </p:spPr>
        </p:sp>
        <p:sp>
          <p:nvSpPr>
            <p:cNvPr name="TextBox 7" id="7"/>
            <p:cNvSpPr txBox="true"/>
            <p:nvPr/>
          </p:nvSpPr>
          <p:spPr>
            <a:xfrm>
              <a:off x="0" y="-38100"/>
              <a:ext cx="5192824" cy="37381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88407" y="5669679"/>
            <a:ext cx="3714261" cy="2038201"/>
          </a:xfrm>
          <a:custGeom>
            <a:avLst/>
            <a:gdLst/>
            <a:ahLst/>
            <a:cxnLst/>
            <a:rect r="r" b="b" t="t" l="l"/>
            <a:pathLst>
              <a:path h="2038201" w="3714261">
                <a:moveTo>
                  <a:pt x="0" y="0"/>
                </a:moveTo>
                <a:lnTo>
                  <a:pt x="3714261" y="0"/>
                </a:lnTo>
                <a:lnTo>
                  <a:pt x="3714261" y="2038201"/>
                </a:lnTo>
                <a:lnTo>
                  <a:pt x="0" y="20382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796734" y="310272"/>
            <a:ext cx="3714261" cy="2038201"/>
          </a:xfrm>
          <a:custGeom>
            <a:avLst/>
            <a:gdLst/>
            <a:ahLst/>
            <a:cxnLst/>
            <a:rect r="r" b="b" t="t" l="l"/>
            <a:pathLst>
              <a:path h="2038201" w="3714261">
                <a:moveTo>
                  <a:pt x="0" y="0"/>
                </a:moveTo>
                <a:lnTo>
                  <a:pt x="3714261" y="0"/>
                </a:lnTo>
                <a:lnTo>
                  <a:pt x="3714261" y="2038200"/>
                </a:lnTo>
                <a:lnTo>
                  <a:pt x="0" y="2038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568724" y="310272"/>
            <a:ext cx="114521" cy="4540897"/>
            <a:chOff x="0" y="0"/>
            <a:chExt cx="30162" cy="1195956"/>
          </a:xfrm>
        </p:grpSpPr>
        <p:sp>
          <p:nvSpPr>
            <p:cNvPr name="Freeform 11" id="11"/>
            <p:cNvSpPr/>
            <p:nvPr/>
          </p:nvSpPr>
          <p:spPr>
            <a:xfrm flipH="false" flipV="false" rot="0">
              <a:off x="0" y="0"/>
              <a:ext cx="30162" cy="1195956"/>
            </a:xfrm>
            <a:custGeom>
              <a:avLst/>
              <a:gdLst/>
              <a:ahLst/>
              <a:cxnLst/>
              <a:rect r="r" b="b" t="t" l="l"/>
              <a:pathLst>
                <a:path h="1195956" w="30162">
                  <a:moveTo>
                    <a:pt x="0" y="0"/>
                  </a:moveTo>
                  <a:lnTo>
                    <a:pt x="30162" y="0"/>
                  </a:lnTo>
                  <a:lnTo>
                    <a:pt x="30162" y="1195956"/>
                  </a:lnTo>
                  <a:lnTo>
                    <a:pt x="0" y="1195956"/>
                  </a:lnTo>
                  <a:close/>
                </a:path>
              </a:pathLst>
            </a:custGeom>
            <a:solidFill>
              <a:srgbClr val="597E52"/>
            </a:solidFill>
          </p:spPr>
        </p:sp>
        <p:sp>
          <p:nvSpPr>
            <p:cNvPr name="TextBox 12" id="12"/>
            <p:cNvSpPr txBox="true"/>
            <p:nvPr/>
          </p:nvSpPr>
          <p:spPr>
            <a:xfrm>
              <a:off x="0" y="-38100"/>
              <a:ext cx="30162" cy="123405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653864" y="3729417"/>
            <a:ext cx="114521" cy="4540897"/>
            <a:chOff x="0" y="0"/>
            <a:chExt cx="30162" cy="1195956"/>
          </a:xfrm>
        </p:grpSpPr>
        <p:sp>
          <p:nvSpPr>
            <p:cNvPr name="Freeform 14" id="14"/>
            <p:cNvSpPr/>
            <p:nvPr/>
          </p:nvSpPr>
          <p:spPr>
            <a:xfrm flipH="false" flipV="false" rot="0">
              <a:off x="0" y="0"/>
              <a:ext cx="30162" cy="1195956"/>
            </a:xfrm>
            <a:custGeom>
              <a:avLst/>
              <a:gdLst/>
              <a:ahLst/>
              <a:cxnLst/>
              <a:rect r="r" b="b" t="t" l="l"/>
              <a:pathLst>
                <a:path h="1195956" w="30162">
                  <a:moveTo>
                    <a:pt x="0" y="0"/>
                  </a:moveTo>
                  <a:lnTo>
                    <a:pt x="30162" y="0"/>
                  </a:lnTo>
                  <a:lnTo>
                    <a:pt x="30162" y="1195956"/>
                  </a:lnTo>
                  <a:lnTo>
                    <a:pt x="0" y="1195956"/>
                  </a:lnTo>
                  <a:close/>
                </a:path>
              </a:pathLst>
            </a:custGeom>
            <a:solidFill>
              <a:srgbClr val="597E52"/>
            </a:solidFill>
          </p:spPr>
        </p:sp>
        <p:sp>
          <p:nvSpPr>
            <p:cNvPr name="TextBox 15" id="15"/>
            <p:cNvSpPr txBox="true"/>
            <p:nvPr/>
          </p:nvSpPr>
          <p:spPr>
            <a:xfrm>
              <a:off x="0" y="-38100"/>
              <a:ext cx="30162" cy="1234056"/>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2664856" y="8966769"/>
            <a:ext cx="4594206" cy="529811"/>
          </a:xfrm>
          <a:prstGeom prst="rect">
            <a:avLst/>
          </a:prstGeom>
        </p:spPr>
        <p:txBody>
          <a:bodyPr anchor="t" rtlCol="false" tIns="0" lIns="0" bIns="0" rIns="0">
            <a:spAutoFit/>
          </a:bodyPr>
          <a:lstStyle/>
          <a:p>
            <a:pPr algn="r" marL="0" indent="0" lvl="0">
              <a:lnSpc>
                <a:spcPts val="4397"/>
              </a:lnSpc>
              <a:spcBef>
                <a:spcPct val="0"/>
              </a:spcBef>
            </a:pPr>
            <a:r>
              <a:rPr lang="en-US" sz="3141">
                <a:solidFill>
                  <a:srgbClr val="FFFFEC"/>
                </a:solidFill>
                <a:latin typeface="Inter"/>
                <a:ea typeface="Inter"/>
                <a:cs typeface="Inter"/>
                <a:sym typeface="Inter"/>
              </a:rPr>
              <a:t>September 2025</a:t>
            </a:r>
          </a:p>
        </p:txBody>
      </p:sp>
      <p:sp>
        <p:nvSpPr>
          <p:cNvPr name="TextBox 17" id="17"/>
          <p:cNvSpPr txBox="true"/>
          <p:nvPr/>
        </p:nvSpPr>
        <p:spPr>
          <a:xfrm rot="0">
            <a:off x="1380088" y="8986543"/>
            <a:ext cx="5133822" cy="529811"/>
          </a:xfrm>
          <a:prstGeom prst="rect">
            <a:avLst/>
          </a:prstGeom>
        </p:spPr>
        <p:txBody>
          <a:bodyPr anchor="t" rtlCol="false" tIns="0" lIns="0" bIns="0" rIns="0">
            <a:spAutoFit/>
          </a:bodyPr>
          <a:lstStyle/>
          <a:p>
            <a:pPr algn="l" marL="0" indent="0" lvl="0">
              <a:lnSpc>
                <a:spcPts val="4397"/>
              </a:lnSpc>
              <a:spcBef>
                <a:spcPct val="0"/>
              </a:spcBef>
            </a:pPr>
            <a:r>
              <a:rPr lang="en-US" sz="3141">
                <a:solidFill>
                  <a:srgbClr val="FFFFEC"/>
                </a:solidFill>
                <a:latin typeface="Inter"/>
                <a:ea typeface="Inter"/>
                <a:cs typeface="Inter"/>
                <a:sym typeface="Inter"/>
              </a:rPr>
              <a:t>Core Data  Engineers</a:t>
            </a:r>
          </a:p>
        </p:txBody>
      </p:sp>
      <p:sp>
        <p:nvSpPr>
          <p:cNvPr name="TextBox 18" id="18"/>
          <p:cNvSpPr txBox="true"/>
          <p:nvPr/>
        </p:nvSpPr>
        <p:spPr>
          <a:xfrm rot="0">
            <a:off x="2491266" y="3038911"/>
            <a:ext cx="13305468" cy="2111917"/>
          </a:xfrm>
          <a:prstGeom prst="rect">
            <a:avLst/>
          </a:prstGeom>
        </p:spPr>
        <p:txBody>
          <a:bodyPr anchor="t" rtlCol="false" tIns="0" lIns="0" bIns="0" rIns="0">
            <a:spAutoFit/>
          </a:bodyPr>
          <a:lstStyle/>
          <a:p>
            <a:pPr algn="ctr" marL="0" indent="0" lvl="0">
              <a:lnSpc>
                <a:spcPts val="16420"/>
              </a:lnSpc>
              <a:spcBef>
                <a:spcPct val="0"/>
              </a:spcBef>
            </a:pPr>
            <a:r>
              <a:rPr lang="en-US" b="true" sz="11728">
                <a:solidFill>
                  <a:srgbClr val="597E52"/>
                </a:solidFill>
                <a:latin typeface="Poppins Bold"/>
                <a:ea typeface="Poppins Bold"/>
                <a:cs typeface="Poppins Bold"/>
                <a:sym typeface="Poppins Bold"/>
              </a:rPr>
              <a:t>Pipeline Pioneers</a:t>
            </a:r>
          </a:p>
        </p:txBody>
      </p:sp>
      <p:sp>
        <p:nvSpPr>
          <p:cNvPr name="TextBox 19" id="19"/>
          <p:cNvSpPr txBox="true"/>
          <p:nvPr/>
        </p:nvSpPr>
        <p:spPr>
          <a:xfrm rot="0">
            <a:off x="2491266" y="5536329"/>
            <a:ext cx="13305468" cy="793766"/>
          </a:xfrm>
          <a:prstGeom prst="rect">
            <a:avLst/>
          </a:prstGeom>
        </p:spPr>
        <p:txBody>
          <a:bodyPr anchor="t" rtlCol="false" tIns="0" lIns="0" bIns="0" rIns="0">
            <a:spAutoFit/>
          </a:bodyPr>
          <a:lstStyle/>
          <a:p>
            <a:pPr algn="ctr" marL="0" indent="0" lvl="0">
              <a:lnSpc>
                <a:spcPts val="6124"/>
              </a:lnSpc>
              <a:spcBef>
                <a:spcPct val="0"/>
              </a:spcBef>
            </a:pPr>
            <a:r>
              <a:rPr lang="en-US" sz="4374" spc="468">
                <a:solidFill>
                  <a:srgbClr val="000000"/>
                </a:solidFill>
                <a:latin typeface="Poppins"/>
                <a:ea typeface="Poppins"/>
                <a:cs typeface="Poppins"/>
                <a:sym typeface="Poppins"/>
              </a:rPr>
              <a:t>CIRCLE-4: LINUX AND GIT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8434426" y="1561260"/>
            <a:ext cx="2502696" cy="250269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7E52"/>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4102" y="-514350"/>
            <a:ext cx="13285214" cy="11336339"/>
            <a:chOff x="0" y="0"/>
            <a:chExt cx="3498987" cy="2985702"/>
          </a:xfrm>
        </p:grpSpPr>
        <p:sp>
          <p:nvSpPr>
            <p:cNvPr name="Freeform 6" id="6"/>
            <p:cNvSpPr/>
            <p:nvPr/>
          </p:nvSpPr>
          <p:spPr>
            <a:xfrm flipH="false" flipV="false" rot="0">
              <a:off x="0" y="0"/>
              <a:ext cx="3498986" cy="2985702"/>
            </a:xfrm>
            <a:custGeom>
              <a:avLst/>
              <a:gdLst/>
              <a:ahLst/>
              <a:cxnLst/>
              <a:rect r="r" b="b" t="t" l="l"/>
              <a:pathLst>
                <a:path h="2985702" w="3498986">
                  <a:moveTo>
                    <a:pt x="0" y="0"/>
                  </a:moveTo>
                  <a:lnTo>
                    <a:pt x="3498986" y="0"/>
                  </a:lnTo>
                  <a:lnTo>
                    <a:pt x="3498986" y="2985702"/>
                  </a:lnTo>
                  <a:lnTo>
                    <a:pt x="0" y="2985702"/>
                  </a:lnTo>
                  <a:close/>
                </a:path>
              </a:pathLst>
            </a:custGeom>
            <a:solidFill>
              <a:srgbClr val="93C00C"/>
            </a:solidFill>
          </p:spPr>
        </p:sp>
        <p:sp>
          <p:nvSpPr>
            <p:cNvPr name="TextBox 7" id="7"/>
            <p:cNvSpPr txBox="true"/>
            <p:nvPr/>
          </p:nvSpPr>
          <p:spPr>
            <a:xfrm>
              <a:off x="0" y="-38100"/>
              <a:ext cx="3498987" cy="302380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853574" y="2520315"/>
            <a:ext cx="7552539" cy="5246370"/>
            <a:chOff x="0" y="0"/>
            <a:chExt cx="1170086" cy="812800"/>
          </a:xfrm>
        </p:grpSpPr>
        <p:sp>
          <p:nvSpPr>
            <p:cNvPr name="Freeform 9" id="9"/>
            <p:cNvSpPr/>
            <p:nvPr/>
          </p:nvSpPr>
          <p:spPr>
            <a:xfrm flipH="false" flipV="false" rot="0">
              <a:off x="0" y="0"/>
              <a:ext cx="1170086" cy="812800"/>
            </a:xfrm>
            <a:custGeom>
              <a:avLst/>
              <a:gdLst/>
              <a:ahLst/>
              <a:cxnLst/>
              <a:rect r="r" b="b" t="t" l="l"/>
              <a:pathLst>
                <a:path h="812800" w="1170086">
                  <a:moveTo>
                    <a:pt x="0" y="0"/>
                  </a:moveTo>
                  <a:lnTo>
                    <a:pt x="1170086" y="0"/>
                  </a:lnTo>
                  <a:lnTo>
                    <a:pt x="1170086" y="812800"/>
                  </a:lnTo>
                  <a:lnTo>
                    <a:pt x="0" y="812800"/>
                  </a:lnTo>
                  <a:close/>
                </a:path>
              </a:pathLst>
            </a:custGeom>
            <a:blipFill>
              <a:blip r:embed="rId2"/>
              <a:stretch>
                <a:fillRect l="-2131" t="0" r="-2131" b="0"/>
              </a:stretch>
            </a:blipFill>
          </p:spPr>
        </p:sp>
      </p:grpSp>
      <p:sp>
        <p:nvSpPr>
          <p:cNvPr name="Freeform 10" id="10"/>
          <p:cNvSpPr/>
          <p:nvPr/>
        </p:nvSpPr>
        <p:spPr>
          <a:xfrm flipH="false" flipV="false" rot="0">
            <a:off x="-1461657" y="8239200"/>
            <a:ext cx="3155318" cy="1731481"/>
          </a:xfrm>
          <a:custGeom>
            <a:avLst/>
            <a:gdLst/>
            <a:ahLst/>
            <a:cxnLst/>
            <a:rect r="r" b="b" t="t" l="l"/>
            <a:pathLst>
              <a:path h="1731481" w="3155318">
                <a:moveTo>
                  <a:pt x="0" y="0"/>
                </a:moveTo>
                <a:lnTo>
                  <a:pt x="3155318" y="0"/>
                </a:lnTo>
                <a:lnTo>
                  <a:pt x="3155318" y="1731480"/>
                </a:lnTo>
                <a:lnTo>
                  <a:pt x="0" y="1731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5681641" y="350987"/>
            <a:ext cx="3155318" cy="1731481"/>
          </a:xfrm>
          <a:custGeom>
            <a:avLst/>
            <a:gdLst/>
            <a:ahLst/>
            <a:cxnLst/>
            <a:rect r="r" b="b" t="t" l="l"/>
            <a:pathLst>
              <a:path h="1731481" w="3155318">
                <a:moveTo>
                  <a:pt x="0" y="0"/>
                </a:moveTo>
                <a:lnTo>
                  <a:pt x="3155318" y="0"/>
                </a:lnTo>
                <a:lnTo>
                  <a:pt x="3155318" y="1731481"/>
                </a:lnTo>
                <a:lnTo>
                  <a:pt x="0" y="1731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1300927" y="8844900"/>
            <a:ext cx="7536032" cy="520081"/>
            <a:chOff x="0" y="0"/>
            <a:chExt cx="1984799" cy="136976"/>
          </a:xfrm>
        </p:grpSpPr>
        <p:sp>
          <p:nvSpPr>
            <p:cNvPr name="Freeform 13" id="13"/>
            <p:cNvSpPr/>
            <p:nvPr/>
          </p:nvSpPr>
          <p:spPr>
            <a:xfrm flipH="false" flipV="false" rot="0">
              <a:off x="0" y="0"/>
              <a:ext cx="1984799" cy="136976"/>
            </a:xfrm>
            <a:custGeom>
              <a:avLst/>
              <a:gdLst/>
              <a:ahLst/>
              <a:cxnLst/>
              <a:rect r="r" b="b" t="t" l="l"/>
              <a:pathLst>
                <a:path h="136976" w="1984799">
                  <a:moveTo>
                    <a:pt x="0" y="0"/>
                  </a:moveTo>
                  <a:lnTo>
                    <a:pt x="1984799" y="0"/>
                  </a:lnTo>
                  <a:lnTo>
                    <a:pt x="1984799" y="136976"/>
                  </a:lnTo>
                  <a:lnTo>
                    <a:pt x="0" y="136976"/>
                  </a:lnTo>
                  <a:close/>
                </a:path>
              </a:pathLst>
            </a:custGeom>
            <a:solidFill>
              <a:srgbClr val="597E52"/>
            </a:solidFill>
          </p:spPr>
        </p:sp>
        <p:sp>
          <p:nvSpPr>
            <p:cNvPr name="TextBox 14" id="14"/>
            <p:cNvSpPr txBox="true"/>
            <p:nvPr/>
          </p:nvSpPr>
          <p:spPr>
            <a:xfrm>
              <a:off x="0" y="-38100"/>
              <a:ext cx="1984799" cy="17507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28700" y="4280982"/>
            <a:ext cx="7405726" cy="3051175"/>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EC"/>
                </a:solidFill>
                <a:latin typeface="Inter"/>
                <a:ea typeface="Inter"/>
                <a:cs typeface="Inter"/>
                <a:sym typeface="Inter"/>
              </a:rPr>
              <a:t>In t</a:t>
            </a:r>
            <a:r>
              <a:rPr lang="en-US" sz="2499">
                <a:solidFill>
                  <a:srgbClr val="FFFFEC"/>
                </a:solidFill>
                <a:latin typeface="Inter"/>
                <a:ea typeface="Inter"/>
                <a:cs typeface="Inter"/>
                <a:sym typeface="Inter"/>
              </a:rPr>
              <a:t>his presentation, we’ll take a closer look at Parch and Posey, a fictional company that gives us real-world insights into business performance. Together, we’ll explore the factors that can boost profitability and streamline operations, uncovering strategies that every business can learn from.</a:t>
            </a:r>
          </a:p>
        </p:txBody>
      </p:sp>
      <p:sp>
        <p:nvSpPr>
          <p:cNvPr name="TextBox 16" id="16"/>
          <p:cNvSpPr txBox="true"/>
          <p:nvPr/>
        </p:nvSpPr>
        <p:spPr>
          <a:xfrm rot="0">
            <a:off x="1300218" y="2904541"/>
            <a:ext cx="6862691" cy="1159415"/>
          </a:xfrm>
          <a:prstGeom prst="rect">
            <a:avLst/>
          </a:prstGeom>
        </p:spPr>
        <p:txBody>
          <a:bodyPr anchor="t" rtlCol="false" tIns="0" lIns="0" bIns="0" rIns="0">
            <a:spAutoFit/>
          </a:bodyPr>
          <a:lstStyle/>
          <a:p>
            <a:pPr algn="ctr" marL="0" indent="0" lvl="0">
              <a:lnSpc>
                <a:spcPts val="9070"/>
              </a:lnSpc>
              <a:spcBef>
                <a:spcPct val="0"/>
              </a:spcBef>
            </a:pPr>
            <a:r>
              <a:rPr lang="en-US" b="true" sz="6478">
                <a:solidFill>
                  <a:srgbClr val="FFFFEC"/>
                </a:solidFill>
                <a:latin typeface="Poppins Bold"/>
                <a:ea typeface="Poppins Bold"/>
                <a:cs typeface="Poppins Bold"/>
                <a:sym typeface="Poppins Bold"/>
              </a:rPr>
              <a:t>Introduction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15992543" y="7243321"/>
            <a:ext cx="2958346" cy="29583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D367"/>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601121"/>
            <a:ext cx="16230600" cy="9084758"/>
            <a:chOff x="0" y="0"/>
            <a:chExt cx="4274726" cy="2392693"/>
          </a:xfrm>
        </p:grpSpPr>
        <p:sp>
          <p:nvSpPr>
            <p:cNvPr name="Freeform 6" id="6"/>
            <p:cNvSpPr/>
            <p:nvPr/>
          </p:nvSpPr>
          <p:spPr>
            <a:xfrm flipH="false" flipV="false" rot="0">
              <a:off x="0" y="0"/>
              <a:ext cx="4274726" cy="2392693"/>
            </a:xfrm>
            <a:custGeom>
              <a:avLst/>
              <a:gdLst/>
              <a:ahLst/>
              <a:cxnLst/>
              <a:rect r="r" b="b" t="t" l="l"/>
              <a:pathLst>
                <a:path h="2392693" w="4274726">
                  <a:moveTo>
                    <a:pt x="0" y="0"/>
                  </a:moveTo>
                  <a:lnTo>
                    <a:pt x="4274726" y="0"/>
                  </a:lnTo>
                  <a:lnTo>
                    <a:pt x="4274726" y="2392693"/>
                  </a:lnTo>
                  <a:lnTo>
                    <a:pt x="0" y="2392693"/>
                  </a:lnTo>
                  <a:close/>
                </a:path>
              </a:pathLst>
            </a:custGeom>
            <a:solidFill>
              <a:srgbClr val="597E52"/>
            </a:solidFill>
          </p:spPr>
        </p:sp>
        <p:sp>
          <p:nvSpPr>
            <p:cNvPr name="TextBox 7" id="7"/>
            <p:cNvSpPr txBox="true"/>
            <p:nvPr/>
          </p:nvSpPr>
          <p:spPr>
            <a:xfrm>
              <a:off x="0" y="-38100"/>
              <a:ext cx="4274726" cy="243079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820471" y="2763846"/>
            <a:ext cx="14647058" cy="6267450"/>
          </a:xfrm>
          <a:prstGeom prst="rect">
            <a:avLst/>
          </a:prstGeom>
        </p:spPr>
        <p:txBody>
          <a:bodyPr anchor="t" rtlCol="false" tIns="0" lIns="0" bIns="0" rIns="0">
            <a:spAutoFit/>
          </a:bodyPr>
          <a:lstStyle/>
          <a:p>
            <a:pPr algn="l">
              <a:lnSpc>
                <a:spcPts val="4199"/>
              </a:lnSpc>
            </a:pPr>
            <a:r>
              <a:rPr lang="en-US" sz="2999">
                <a:solidFill>
                  <a:srgbClr val="FFFFEC"/>
                </a:solidFill>
                <a:latin typeface="Inter"/>
                <a:ea typeface="Inter"/>
                <a:cs typeface="Inter"/>
                <a:sym typeface="Inter"/>
              </a:rPr>
              <a:t>The analysis shows strong sales performance, with </a:t>
            </a:r>
            <a:r>
              <a:rPr lang="en-US" sz="2999" b="true">
                <a:solidFill>
                  <a:srgbClr val="FFFFEC"/>
                </a:solidFill>
                <a:latin typeface="Inter Bold"/>
                <a:ea typeface="Inter Bold"/>
                <a:cs typeface="Inter Bold"/>
                <a:sym typeface="Inter Bold"/>
              </a:rPr>
              <a:t>6,912 </a:t>
            </a:r>
            <a:r>
              <a:rPr lang="en-US" sz="2999">
                <a:solidFill>
                  <a:srgbClr val="FFFFEC"/>
                </a:solidFill>
                <a:latin typeface="Inter"/>
                <a:ea typeface="Inter"/>
                <a:cs typeface="Inter"/>
                <a:sym typeface="Inter"/>
              </a:rPr>
              <a:t>orders generating </a:t>
            </a:r>
            <a:r>
              <a:rPr lang="en-US" sz="2999" b="true">
                <a:solidFill>
                  <a:srgbClr val="FFFFEC"/>
                </a:solidFill>
                <a:latin typeface="Inter Bold"/>
                <a:ea typeface="Inter Bold"/>
                <a:cs typeface="Inter Bold"/>
                <a:sym typeface="Inter Bold"/>
              </a:rPr>
              <a:t>$23.1M</a:t>
            </a:r>
            <a:r>
              <a:rPr lang="en-US" sz="2999">
                <a:solidFill>
                  <a:srgbClr val="FFFFEC"/>
                </a:solidFill>
                <a:latin typeface="Inter"/>
                <a:ea typeface="Inter"/>
                <a:cs typeface="Inter"/>
                <a:sym typeface="Inter"/>
              </a:rPr>
              <a:t> in revenue—an average of </a:t>
            </a:r>
            <a:r>
              <a:rPr lang="en-US" sz="2999" b="true">
                <a:solidFill>
                  <a:srgbClr val="FFFFEC"/>
                </a:solidFill>
                <a:latin typeface="Inter Bold"/>
                <a:ea typeface="Inter Bold"/>
                <a:cs typeface="Inter Bold"/>
                <a:sym typeface="Inter Bold"/>
              </a:rPr>
              <a:t>$3,348</a:t>
            </a:r>
            <a:r>
              <a:rPr lang="en-US" sz="2999">
                <a:solidFill>
                  <a:srgbClr val="FFFFEC"/>
                </a:solidFill>
                <a:latin typeface="Inter"/>
                <a:ea typeface="Inter"/>
                <a:cs typeface="Inter"/>
                <a:sym typeface="Inter"/>
              </a:rPr>
              <a:t> per order. The Standard product led with </a:t>
            </a:r>
            <a:r>
              <a:rPr lang="en-US" sz="2999" b="true">
                <a:solidFill>
                  <a:srgbClr val="FFFFEC"/>
                </a:solidFill>
                <a:latin typeface="Inter Bold"/>
                <a:ea typeface="Inter Bold"/>
                <a:cs typeface="Inter Bold"/>
                <a:sym typeface="Inter Bold"/>
              </a:rPr>
              <a:t>1.9M</a:t>
            </a:r>
            <a:r>
              <a:rPr lang="en-US" sz="2999">
                <a:solidFill>
                  <a:srgbClr val="FFFFEC"/>
                </a:solidFill>
                <a:latin typeface="Inter"/>
                <a:ea typeface="Inter"/>
                <a:cs typeface="Inter"/>
                <a:sym typeface="Inter"/>
              </a:rPr>
              <a:t> orders and </a:t>
            </a:r>
            <a:r>
              <a:rPr lang="en-US" sz="2999" b="true">
                <a:solidFill>
                  <a:srgbClr val="FFFFEC"/>
                </a:solidFill>
                <a:latin typeface="Inter Bold"/>
                <a:ea typeface="Inter Bold"/>
                <a:cs typeface="Inter Bold"/>
                <a:sym typeface="Inter Bold"/>
              </a:rPr>
              <a:t>$9.67M</a:t>
            </a:r>
            <a:r>
              <a:rPr lang="en-US" sz="2999">
                <a:solidFill>
                  <a:srgbClr val="FFFFEC"/>
                </a:solidFill>
                <a:latin typeface="Inter"/>
                <a:ea typeface="Inter"/>
                <a:cs typeface="Inter"/>
                <a:sym typeface="Inter"/>
              </a:rPr>
              <a:t> in revenue, confirming its role as the top revenue driver.</a:t>
            </a:r>
          </a:p>
          <a:p>
            <a:pPr algn="l">
              <a:lnSpc>
                <a:spcPts val="4199"/>
              </a:lnSpc>
            </a:pPr>
          </a:p>
          <a:p>
            <a:pPr algn="l">
              <a:lnSpc>
                <a:spcPts val="4199"/>
              </a:lnSpc>
            </a:pPr>
            <a:r>
              <a:rPr lang="en-US" sz="2999">
                <a:solidFill>
                  <a:srgbClr val="FFFFEC"/>
                </a:solidFill>
                <a:latin typeface="Inter"/>
                <a:ea typeface="Inter"/>
                <a:cs typeface="Inter"/>
                <a:sym typeface="Inter"/>
              </a:rPr>
              <a:t>In online channels, Direct sales dominated (</a:t>
            </a:r>
            <a:r>
              <a:rPr lang="en-US" sz="2999" b="true">
                <a:solidFill>
                  <a:srgbClr val="FFFFEC"/>
                </a:solidFill>
                <a:latin typeface="Inter Bold"/>
                <a:ea typeface="Inter Bold"/>
                <a:cs typeface="Inter Bold"/>
                <a:sym typeface="Inter Bold"/>
              </a:rPr>
              <a:t>$639.7M</a:t>
            </a:r>
            <a:r>
              <a:rPr lang="en-US" sz="2999">
                <a:solidFill>
                  <a:srgbClr val="FFFFEC"/>
                </a:solidFill>
                <a:latin typeface="Inter"/>
                <a:ea typeface="Inter"/>
                <a:cs typeface="Inter"/>
                <a:sym typeface="Inter"/>
              </a:rPr>
              <a:t>), while Facebook (</a:t>
            </a:r>
            <a:r>
              <a:rPr lang="en-US" sz="2999" b="true">
                <a:solidFill>
                  <a:srgbClr val="FFFFEC"/>
                </a:solidFill>
                <a:latin typeface="Inter Bold"/>
                <a:ea typeface="Inter Bold"/>
                <a:cs typeface="Inter Bold"/>
                <a:sym typeface="Inter Bold"/>
              </a:rPr>
              <a:t>$103M</a:t>
            </a:r>
            <a:r>
              <a:rPr lang="en-US" sz="2999">
                <a:solidFill>
                  <a:srgbClr val="FFFFEC"/>
                </a:solidFill>
                <a:latin typeface="Inter"/>
                <a:ea typeface="Inter"/>
                <a:cs typeface="Inter"/>
                <a:sym typeface="Inter"/>
              </a:rPr>
              <a:t>) and Organic (</a:t>
            </a:r>
            <a:r>
              <a:rPr lang="en-US" sz="2999" b="true">
                <a:solidFill>
                  <a:srgbClr val="FFFFEC"/>
                </a:solidFill>
                <a:latin typeface="Inter Bold"/>
                <a:ea typeface="Inter Bold"/>
                <a:cs typeface="Inter Bold"/>
                <a:sym typeface="Inter Bold"/>
              </a:rPr>
              <a:t>$102M</a:t>
            </a:r>
            <a:r>
              <a:rPr lang="en-US" sz="2999">
                <a:solidFill>
                  <a:srgbClr val="FFFFEC"/>
                </a:solidFill>
                <a:latin typeface="Inter"/>
                <a:ea typeface="Inter"/>
                <a:cs typeface="Inter"/>
                <a:sym typeface="Inter"/>
              </a:rPr>
              <a:t>) also contributed significantly. Regionally, sales grew steadily from </a:t>
            </a:r>
            <a:r>
              <a:rPr lang="en-US" sz="2999" b="true">
                <a:solidFill>
                  <a:srgbClr val="FFFFEC"/>
                </a:solidFill>
                <a:latin typeface="Inter Bold"/>
                <a:ea typeface="Inter Bold"/>
                <a:cs typeface="Inter Bold"/>
                <a:sym typeface="Inter Bold"/>
              </a:rPr>
              <a:t>2013–2016</a:t>
            </a:r>
            <a:r>
              <a:rPr lang="en-US" sz="2999">
                <a:solidFill>
                  <a:srgbClr val="FFFFEC"/>
                </a:solidFill>
                <a:latin typeface="Inter"/>
                <a:ea typeface="Inter"/>
                <a:cs typeface="Inter"/>
                <a:sym typeface="Inter"/>
              </a:rPr>
              <a:t>, peaking in 2016 across all regions before dropping sharply in </a:t>
            </a:r>
            <a:r>
              <a:rPr lang="en-US" sz="2999" b="true">
                <a:solidFill>
                  <a:srgbClr val="FFFFEC"/>
                </a:solidFill>
                <a:latin typeface="Inter Bold"/>
                <a:ea typeface="Inter Bold"/>
                <a:cs typeface="Inter Bold"/>
                <a:sym typeface="Inter Bold"/>
              </a:rPr>
              <a:t>2017</a:t>
            </a:r>
            <a:r>
              <a:rPr lang="en-US" sz="2999">
                <a:solidFill>
                  <a:srgbClr val="FFFFEC"/>
                </a:solidFill>
                <a:latin typeface="Inter"/>
                <a:ea typeface="Inter"/>
                <a:cs typeface="Inter"/>
                <a:sym typeface="Inter"/>
              </a:rPr>
              <a:t>.</a:t>
            </a:r>
          </a:p>
          <a:p>
            <a:pPr algn="l">
              <a:lnSpc>
                <a:spcPts val="4199"/>
              </a:lnSpc>
            </a:pPr>
          </a:p>
          <a:p>
            <a:pPr algn="l" marL="0" indent="0" lvl="0">
              <a:lnSpc>
                <a:spcPts val="4199"/>
              </a:lnSpc>
              <a:spcBef>
                <a:spcPct val="0"/>
              </a:spcBef>
            </a:pPr>
            <a:r>
              <a:rPr lang="en-US" sz="2999">
                <a:solidFill>
                  <a:srgbClr val="FFFFEC"/>
                </a:solidFill>
                <a:latin typeface="Inter"/>
                <a:ea typeface="Inter"/>
                <a:cs typeface="Inter"/>
                <a:sym typeface="Inter"/>
              </a:rPr>
              <a:t>A strong positive relationship between order volume and revenue was observed, though the </a:t>
            </a:r>
            <a:r>
              <a:rPr lang="en-US" b="true" sz="2999">
                <a:solidFill>
                  <a:srgbClr val="FFFFEC"/>
                </a:solidFill>
                <a:latin typeface="Inter Bold"/>
                <a:ea typeface="Inter Bold"/>
                <a:cs typeface="Inter Bold"/>
                <a:sym typeface="Inter Bold"/>
              </a:rPr>
              <a:t>2017 </a:t>
            </a:r>
            <a:r>
              <a:rPr lang="en-US" sz="2999">
                <a:solidFill>
                  <a:srgbClr val="FFFFEC"/>
                </a:solidFill>
                <a:latin typeface="Inter"/>
                <a:ea typeface="Inter"/>
                <a:cs typeface="Inter"/>
                <a:sym typeface="Inter"/>
              </a:rPr>
              <a:t>decline highlights the need for further review to sustain growth.</a:t>
            </a:r>
          </a:p>
        </p:txBody>
      </p:sp>
      <p:sp>
        <p:nvSpPr>
          <p:cNvPr name="TextBox 9" id="9"/>
          <p:cNvSpPr txBox="true"/>
          <p:nvPr/>
        </p:nvSpPr>
        <p:spPr>
          <a:xfrm rot="0">
            <a:off x="4230344" y="1067406"/>
            <a:ext cx="9827312" cy="1213010"/>
          </a:xfrm>
          <a:prstGeom prst="rect">
            <a:avLst/>
          </a:prstGeom>
        </p:spPr>
        <p:txBody>
          <a:bodyPr anchor="t" rtlCol="false" tIns="0" lIns="0" bIns="0" rIns="0">
            <a:spAutoFit/>
          </a:bodyPr>
          <a:lstStyle/>
          <a:p>
            <a:pPr algn="ctr" marL="0" indent="0" lvl="0">
              <a:lnSpc>
                <a:spcPts val="9393"/>
              </a:lnSpc>
              <a:spcBef>
                <a:spcPct val="0"/>
              </a:spcBef>
            </a:pPr>
            <a:r>
              <a:rPr lang="en-US" b="true" sz="6709">
                <a:solidFill>
                  <a:srgbClr val="FFFFEC"/>
                </a:solidFill>
                <a:latin typeface="Poppins Bold"/>
                <a:ea typeface="Poppins Bold"/>
                <a:cs typeface="Poppins Bold"/>
                <a:sym typeface="Poppins Bold"/>
              </a:rPr>
              <a:t>Executive Summary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827868" y="387234"/>
            <a:ext cx="9441420" cy="2692987"/>
            <a:chOff x="0" y="0"/>
            <a:chExt cx="2486629" cy="709264"/>
          </a:xfrm>
        </p:grpSpPr>
        <p:sp>
          <p:nvSpPr>
            <p:cNvPr name="Freeform 3" id="3"/>
            <p:cNvSpPr/>
            <p:nvPr/>
          </p:nvSpPr>
          <p:spPr>
            <a:xfrm flipH="false" flipV="false" rot="0">
              <a:off x="0" y="0"/>
              <a:ext cx="2486629" cy="709264"/>
            </a:xfrm>
            <a:custGeom>
              <a:avLst/>
              <a:gdLst/>
              <a:ahLst/>
              <a:cxnLst/>
              <a:rect r="r" b="b" t="t" l="l"/>
              <a:pathLst>
                <a:path h="709264" w="2486629">
                  <a:moveTo>
                    <a:pt x="82000" y="0"/>
                  </a:moveTo>
                  <a:lnTo>
                    <a:pt x="2404630" y="0"/>
                  </a:lnTo>
                  <a:cubicBezTo>
                    <a:pt x="2426377" y="0"/>
                    <a:pt x="2447234" y="8639"/>
                    <a:pt x="2462612" y="24017"/>
                  </a:cubicBezTo>
                  <a:cubicBezTo>
                    <a:pt x="2477990" y="39395"/>
                    <a:pt x="2486629" y="60252"/>
                    <a:pt x="2486629" y="82000"/>
                  </a:cubicBezTo>
                  <a:lnTo>
                    <a:pt x="2486629" y="627265"/>
                  </a:lnTo>
                  <a:cubicBezTo>
                    <a:pt x="2486629" y="649012"/>
                    <a:pt x="2477990" y="669869"/>
                    <a:pt x="2462612" y="685247"/>
                  </a:cubicBezTo>
                  <a:cubicBezTo>
                    <a:pt x="2447234" y="700625"/>
                    <a:pt x="2426377" y="709264"/>
                    <a:pt x="2404630" y="709264"/>
                  </a:cubicBezTo>
                  <a:lnTo>
                    <a:pt x="82000" y="709264"/>
                  </a:lnTo>
                  <a:cubicBezTo>
                    <a:pt x="60252" y="709264"/>
                    <a:pt x="39395" y="700625"/>
                    <a:pt x="24017" y="685247"/>
                  </a:cubicBezTo>
                  <a:cubicBezTo>
                    <a:pt x="8639" y="669869"/>
                    <a:pt x="0" y="649012"/>
                    <a:pt x="0" y="627265"/>
                  </a:cubicBezTo>
                  <a:lnTo>
                    <a:pt x="0" y="82000"/>
                  </a:lnTo>
                  <a:cubicBezTo>
                    <a:pt x="0" y="60252"/>
                    <a:pt x="8639" y="39395"/>
                    <a:pt x="24017" y="24017"/>
                  </a:cubicBezTo>
                  <a:cubicBezTo>
                    <a:pt x="39395" y="8639"/>
                    <a:pt x="60252" y="0"/>
                    <a:pt x="82000" y="0"/>
                  </a:cubicBezTo>
                  <a:close/>
                </a:path>
              </a:pathLst>
            </a:custGeom>
            <a:solidFill>
              <a:srgbClr val="597E52"/>
            </a:solidFill>
          </p:spPr>
        </p:sp>
        <p:sp>
          <p:nvSpPr>
            <p:cNvPr name="TextBox 4" id="4"/>
            <p:cNvSpPr txBox="true"/>
            <p:nvPr/>
          </p:nvSpPr>
          <p:spPr>
            <a:xfrm>
              <a:off x="0" y="-38100"/>
              <a:ext cx="2486629" cy="7473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435315" y="-1091939"/>
            <a:ext cx="2958346" cy="29583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AD86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150081" y="644201"/>
            <a:ext cx="7001481" cy="2132762"/>
          </a:xfrm>
          <a:prstGeom prst="rect">
            <a:avLst/>
          </a:prstGeom>
        </p:spPr>
        <p:txBody>
          <a:bodyPr anchor="t" rtlCol="false" tIns="0" lIns="0" bIns="0" rIns="0">
            <a:spAutoFit/>
          </a:bodyPr>
          <a:lstStyle/>
          <a:p>
            <a:pPr algn="l">
              <a:lnSpc>
                <a:spcPts val="8040"/>
              </a:lnSpc>
            </a:pPr>
            <a:r>
              <a:rPr lang="en-US" sz="7444" b="true">
                <a:solidFill>
                  <a:srgbClr val="BAD863"/>
                </a:solidFill>
                <a:latin typeface="Poppins Bold"/>
                <a:ea typeface="Poppins Bold"/>
                <a:cs typeface="Poppins Bold"/>
                <a:sym typeface="Poppins Bold"/>
              </a:rPr>
              <a:t>Regional</a:t>
            </a:r>
          </a:p>
          <a:p>
            <a:pPr algn="l" marL="0" indent="0" lvl="0">
              <a:lnSpc>
                <a:spcPts val="8040"/>
              </a:lnSpc>
            </a:pPr>
            <a:r>
              <a:rPr lang="en-US" b="true" sz="7444">
                <a:solidFill>
                  <a:srgbClr val="BAD863"/>
                </a:solidFill>
                <a:latin typeface="Poppins Bold"/>
                <a:ea typeface="Poppins Bold"/>
                <a:cs typeface="Poppins Bold"/>
                <a:sym typeface="Poppins Bold"/>
              </a:rPr>
              <a:t>YoY</a:t>
            </a:r>
          </a:p>
        </p:txBody>
      </p:sp>
      <p:sp>
        <p:nvSpPr>
          <p:cNvPr name="TextBox 9" id="9"/>
          <p:cNvSpPr txBox="true"/>
          <p:nvPr/>
        </p:nvSpPr>
        <p:spPr>
          <a:xfrm rot="0">
            <a:off x="1362496" y="3516011"/>
            <a:ext cx="16109219" cy="6167121"/>
          </a:xfrm>
          <a:prstGeom prst="rect">
            <a:avLst/>
          </a:prstGeom>
        </p:spPr>
        <p:txBody>
          <a:bodyPr anchor="t" rtlCol="false" tIns="0" lIns="0" bIns="0" rIns="0">
            <a:spAutoFit/>
          </a:bodyPr>
          <a:lstStyle/>
          <a:p>
            <a:pPr algn="l">
              <a:lnSpc>
                <a:spcPts val="4479"/>
              </a:lnSpc>
            </a:pPr>
            <a:r>
              <a:rPr lang="en-US" sz="3199">
                <a:solidFill>
                  <a:srgbClr val="000000"/>
                </a:solidFill>
                <a:latin typeface="Inter"/>
                <a:ea typeface="Inter"/>
                <a:cs typeface="Inter"/>
                <a:sym typeface="Inter"/>
              </a:rPr>
              <a:t>The regional sales analysis shows consistent growth from 2013 to 2016, peaking in 2016 with the Northeast leading at 1,196 orders worth nearly $</a:t>
            </a:r>
            <a:r>
              <a:rPr lang="en-US" sz="3199" b="true">
                <a:solidFill>
                  <a:srgbClr val="000000"/>
                </a:solidFill>
                <a:latin typeface="Inter Bold"/>
                <a:ea typeface="Inter Bold"/>
                <a:cs typeface="Inter Bold"/>
                <a:sym typeface="Inter Bold"/>
              </a:rPr>
              <a:t>4 million,</a:t>
            </a:r>
            <a:r>
              <a:rPr lang="en-US" sz="3199">
                <a:solidFill>
                  <a:srgbClr val="000000"/>
                </a:solidFill>
                <a:latin typeface="Inter"/>
                <a:ea typeface="Inter"/>
                <a:cs typeface="Inter"/>
                <a:sym typeface="Inter"/>
              </a:rPr>
              <a:t> followed by the Southeast (</a:t>
            </a:r>
            <a:r>
              <a:rPr lang="en-US" sz="3199" b="true">
                <a:solidFill>
                  <a:srgbClr val="000000"/>
                </a:solidFill>
                <a:latin typeface="Inter Bold"/>
                <a:ea typeface="Inter Bold"/>
                <a:cs typeface="Inter Bold"/>
                <a:sym typeface="Inter Bold"/>
              </a:rPr>
              <a:t>1,110 orders; $3.5M</a:t>
            </a:r>
            <a:r>
              <a:rPr lang="en-US" sz="3199">
                <a:solidFill>
                  <a:srgbClr val="000000"/>
                </a:solidFill>
                <a:latin typeface="Inter"/>
                <a:ea typeface="Inter"/>
                <a:cs typeface="Inter"/>
                <a:sym typeface="Inter"/>
              </a:rPr>
              <a:t>) and the West (</a:t>
            </a:r>
            <a:r>
              <a:rPr lang="en-US" sz="3199" b="true">
                <a:solidFill>
                  <a:srgbClr val="000000"/>
                </a:solidFill>
                <a:latin typeface="Inter Bold"/>
                <a:ea typeface="Inter Bold"/>
                <a:cs typeface="Inter Bold"/>
                <a:sym typeface="Inter Bold"/>
              </a:rPr>
              <a:t>968 orders; $3.6M</a:t>
            </a:r>
            <a:r>
              <a:rPr lang="en-US" sz="3199">
                <a:solidFill>
                  <a:srgbClr val="000000"/>
                </a:solidFill>
                <a:latin typeface="Inter"/>
                <a:ea typeface="Inter"/>
                <a:cs typeface="Inter"/>
                <a:sym typeface="Inter"/>
              </a:rPr>
              <a:t>). The Midwest also contributed significantly with 483 orders totaling </a:t>
            </a:r>
            <a:r>
              <a:rPr lang="en-US" sz="3199" b="true">
                <a:solidFill>
                  <a:srgbClr val="000000"/>
                </a:solidFill>
                <a:latin typeface="Inter Bold"/>
                <a:ea typeface="Inter Bold"/>
                <a:cs typeface="Inter Bold"/>
                <a:sym typeface="Inter Bold"/>
              </a:rPr>
              <a:t>$1.7M</a:t>
            </a:r>
            <a:r>
              <a:rPr lang="en-US" sz="3199">
                <a:solidFill>
                  <a:srgbClr val="000000"/>
                </a:solidFill>
                <a:latin typeface="Inter"/>
                <a:ea typeface="Inter"/>
                <a:cs typeface="Inter"/>
                <a:sym typeface="Inter"/>
              </a:rPr>
              <a:t>. In 2017, however, both orders and revenues dropped sharply across all regions.</a:t>
            </a:r>
          </a:p>
          <a:p>
            <a:pPr algn="l">
              <a:lnSpc>
                <a:spcPts val="4479"/>
              </a:lnSpc>
            </a:pPr>
          </a:p>
          <a:p>
            <a:pPr algn="l" marL="0" indent="0" lvl="0">
              <a:lnSpc>
                <a:spcPts val="4479"/>
              </a:lnSpc>
              <a:spcBef>
                <a:spcPct val="0"/>
              </a:spcBef>
            </a:pPr>
            <a:r>
              <a:rPr lang="en-US" sz="3199">
                <a:solidFill>
                  <a:srgbClr val="000000"/>
                </a:solidFill>
                <a:latin typeface="Inter"/>
                <a:ea typeface="Inter"/>
                <a:cs typeface="Inter"/>
                <a:sym typeface="Inter"/>
              </a:rPr>
              <a:t>The trend highlights a clear positive relationship between total orders and order value—as order volumes increased, revenues rose proportionally, while the 2017 decline confirmed how fewer orders directly translated into lower sales. Overall, 2016 stands out as the strongest year, driven by high order activity and robust revenue performance.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sp>
        <p:nvSpPr>
          <p:cNvPr name="Freeform 2" id="2"/>
          <p:cNvSpPr/>
          <p:nvPr/>
        </p:nvSpPr>
        <p:spPr>
          <a:xfrm flipH="false" flipV="false" rot="0">
            <a:off x="-1334847" y="9639300"/>
            <a:ext cx="3155318" cy="1731481"/>
          </a:xfrm>
          <a:custGeom>
            <a:avLst/>
            <a:gdLst/>
            <a:ahLst/>
            <a:cxnLst/>
            <a:rect r="r" b="b" t="t" l="l"/>
            <a:pathLst>
              <a:path h="1731481" w="3155318">
                <a:moveTo>
                  <a:pt x="0" y="0"/>
                </a:moveTo>
                <a:lnTo>
                  <a:pt x="3155318" y="0"/>
                </a:lnTo>
                <a:lnTo>
                  <a:pt x="3155318" y="1731481"/>
                </a:lnTo>
                <a:lnTo>
                  <a:pt x="0" y="1731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1495270" y="-1512886"/>
            <a:ext cx="21090252" cy="13304194"/>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sp>
        <p:nvSpPr>
          <p:cNvPr name="Freeform 2" id="2"/>
          <p:cNvSpPr/>
          <p:nvPr/>
        </p:nvSpPr>
        <p:spPr>
          <a:xfrm flipH="false" flipV="false" rot="0">
            <a:off x="-1334847" y="9639300"/>
            <a:ext cx="3155318" cy="1731481"/>
          </a:xfrm>
          <a:custGeom>
            <a:avLst/>
            <a:gdLst/>
            <a:ahLst/>
            <a:cxnLst/>
            <a:rect r="r" b="b" t="t" l="l"/>
            <a:pathLst>
              <a:path h="1731481" w="3155318">
                <a:moveTo>
                  <a:pt x="0" y="0"/>
                </a:moveTo>
                <a:lnTo>
                  <a:pt x="3155318" y="0"/>
                </a:lnTo>
                <a:lnTo>
                  <a:pt x="3155318" y="1731481"/>
                </a:lnTo>
                <a:lnTo>
                  <a:pt x="0" y="1731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1561707" y="-1791839"/>
            <a:ext cx="21654226" cy="13883358"/>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238728"/>
            <a:ext cx="19334753" cy="10525728"/>
            <a:chOff x="0" y="0"/>
            <a:chExt cx="5092281" cy="2772208"/>
          </a:xfrm>
        </p:grpSpPr>
        <p:sp>
          <p:nvSpPr>
            <p:cNvPr name="Freeform 3" id="3"/>
            <p:cNvSpPr/>
            <p:nvPr/>
          </p:nvSpPr>
          <p:spPr>
            <a:xfrm flipH="false" flipV="false" rot="0">
              <a:off x="0" y="0"/>
              <a:ext cx="5092281" cy="2772208"/>
            </a:xfrm>
            <a:custGeom>
              <a:avLst/>
              <a:gdLst/>
              <a:ahLst/>
              <a:cxnLst/>
              <a:rect r="r" b="b" t="t" l="l"/>
              <a:pathLst>
                <a:path h="2772208" w="5092281">
                  <a:moveTo>
                    <a:pt x="0" y="0"/>
                  </a:moveTo>
                  <a:lnTo>
                    <a:pt x="5092281" y="0"/>
                  </a:lnTo>
                  <a:lnTo>
                    <a:pt x="5092281" y="2772208"/>
                  </a:lnTo>
                  <a:lnTo>
                    <a:pt x="0" y="2772208"/>
                  </a:lnTo>
                  <a:close/>
                </a:path>
              </a:pathLst>
            </a:custGeom>
            <a:solidFill>
              <a:srgbClr val="597E52"/>
            </a:solidFill>
          </p:spPr>
        </p:sp>
        <p:sp>
          <p:nvSpPr>
            <p:cNvPr name="TextBox 4" id="4"/>
            <p:cNvSpPr txBox="true"/>
            <p:nvPr/>
          </p:nvSpPr>
          <p:spPr>
            <a:xfrm>
              <a:off x="0" y="-38100"/>
              <a:ext cx="5092281" cy="281030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71899" y="2153933"/>
            <a:ext cx="15744202" cy="7017226"/>
            <a:chOff x="0" y="0"/>
            <a:chExt cx="4146621" cy="1848158"/>
          </a:xfrm>
        </p:grpSpPr>
        <p:sp>
          <p:nvSpPr>
            <p:cNvPr name="Freeform 6" id="6"/>
            <p:cNvSpPr/>
            <p:nvPr/>
          </p:nvSpPr>
          <p:spPr>
            <a:xfrm flipH="false" flipV="false" rot="0">
              <a:off x="0" y="0"/>
              <a:ext cx="4146621" cy="1848158"/>
            </a:xfrm>
            <a:custGeom>
              <a:avLst/>
              <a:gdLst/>
              <a:ahLst/>
              <a:cxnLst/>
              <a:rect r="r" b="b" t="t" l="l"/>
              <a:pathLst>
                <a:path h="1848158" w="4146621">
                  <a:moveTo>
                    <a:pt x="0" y="0"/>
                  </a:moveTo>
                  <a:lnTo>
                    <a:pt x="4146621" y="0"/>
                  </a:lnTo>
                  <a:lnTo>
                    <a:pt x="4146621" y="1848158"/>
                  </a:lnTo>
                  <a:lnTo>
                    <a:pt x="0" y="1848158"/>
                  </a:lnTo>
                  <a:close/>
                </a:path>
              </a:pathLst>
            </a:custGeom>
            <a:solidFill>
              <a:srgbClr val="93C00C"/>
            </a:solidFill>
          </p:spPr>
        </p:sp>
        <p:sp>
          <p:nvSpPr>
            <p:cNvPr name="TextBox 7" id="7"/>
            <p:cNvSpPr txBox="true"/>
            <p:nvPr/>
          </p:nvSpPr>
          <p:spPr>
            <a:xfrm>
              <a:off x="0" y="-38100"/>
              <a:ext cx="4146621" cy="1886258"/>
            </a:xfrm>
            <a:prstGeom prst="rect">
              <a:avLst/>
            </a:prstGeom>
          </p:spPr>
          <p:txBody>
            <a:bodyPr anchor="ctr" rtlCol="false" tIns="50800" lIns="50800" bIns="50800" rIns="50800"/>
            <a:lstStyle/>
            <a:p>
              <a:pPr algn="ctr">
                <a:lnSpc>
                  <a:spcPts val="2659"/>
                </a:lnSpc>
              </a:pPr>
            </a:p>
          </p:txBody>
        </p:sp>
      </p:grpSp>
      <p:pic>
        <p:nvPicPr>
          <p:cNvPr name="Picture 8" id="8"/>
          <p:cNvPicPr>
            <a:picLocks noChangeAspect="true"/>
          </p:cNvPicPr>
          <p:nvPr/>
        </p:nvPicPr>
        <p:blipFill>
          <a:blip r:embed="rId2"/>
          <a:stretch>
            <a:fillRect/>
          </a:stretch>
        </p:blipFill>
        <p:spPr>
          <a:xfrm rot="0">
            <a:off x="928391" y="1677983"/>
            <a:ext cx="9127814" cy="7969124"/>
          </a:xfrm>
          <a:prstGeom prst="rect">
            <a:avLst/>
          </a:prstGeom>
        </p:spPr>
      </p:pic>
      <p:sp>
        <p:nvSpPr>
          <p:cNvPr name="TextBox 9" id="9"/>
          <p:cNvSpPr txBox="true"/>
          <p:nvPr/>
        </p:nvSpPr>
        <p:spPr>
          <a:xfrm rot="0">
            <a:off x="9847052" y="3177234"/>
            <a:ext cx="6918766" cy="5670901"/>
          </a:xfrm>
          <a:prstGeom prst="rect">
            <a:avLst/>
          </a:prstGeom>
        </p:spPr>
        <p:txBody>
          <a:bodyPr anchor="t" rtlCol="false" tIns="0" lIns="0" bIns="0" rIns="0">
            <a:spAutoFit/>
          </a:bodyPr>
          <a:lstStyle/>
          <a:p>
            <a:pPr algn="l">
              <a:lnSpc>
                <a:spcPts val="3454"/>
              </a:lnSpc>
            </a:pPr>
            <a:r>
              <a:rPr lang="en-US" sz="2214">
                <a:solidFill>
                  <a:srgbClr val="000000"/>
                </a:solidFill>
                <a:latin typeface="Inter"/>
                <a:ea typeface="Inter"/>
                <a:cs typeface="Inter"/>
                <a:sym typeface="Inter"/>
              </a:rPr>
              <a:t>O</a:t>
            </a:r>
            <a:r>
              <a:rPr lang="en-US" sz="2214">
                <a:solidFill>
                  <a:srgbClr val="000000"/>
                </a:solidFill>
                <a:latin typeface="Inter"/>
                <a:ea typeface="Inter"/>
                <a:cs typeface="Inter"/>
                <a:sym typeface="Inter"/>
              </a:rPr>
              <a:t>ur analysis of customer acquisition metrics reveals that </a:t>
            </a:r>
            <a:r>
              <a:rPr lang="en-US" sz="2214">
                <a:solidFill>
                  <a:srgbClr val="000000"/>
                </a:solidFill>
                <a:latin typeface="Inter"/>
                <a:ea typeface="Inter"/>
                <a:cs typeface="Inter"/>
                <a:sym typeface="Inter"/>
              </a:rPr>
              <a:t>Georgianna Chisholm</a:t>
            </a:r>
            <a:r>
              <a:rPr lang="en-US" sz="2214">
                <a:solidFill>
                  <a:srgbClr val="000000"/>
                </a:solidFill>
                <a:latin typeface="Inter"/>
                <a:ea typeface="Inter"/>
                <a:cs typeface="Inter"/>
                <a:sym typeface="Inter"/>
              </a:rPr>
              <a:t> leads the way with 15 customers. Close behind, E</a:t>
            </a:r>
            <a:r>
              <a:rPr lang="en-US" sz="2214">
                <a:solidFill>
                  <a:srgbClr val="000000"/>
                </a:solidFill>
                <a:latin typeface="Inter"/>
                <a:ea typeface="Inter"/>
                <a:cs typeface="Inter"/>
                <a:sym typeface="Inter"/>
              </a:rPr>
              <a:t>arlie Schleusne</a:t>
            </a:r>
            <a:r>
              <a:rPr lang="en-US" sz="2214">
                <a:solidFill>
                  <a:srgbClr val="000000"/>
                </a:solidFill>
                <a:latin typeface="Inter"/>
                <a:ea typeface="Inter"/>
                <a:cs typeface="Inter"/>
                <a:sym typeface="Inter"/>
              </a:rPr>
              <a:t>r, </a:t>
            </a:r>
            <a:r>
              <a:rPr lang="en-US" sz="2214">
                <a:solidFill>
                  <a:srgbClr val="000000"/>
                </a:solidFill>
                <a:latin typeface="Inter"/>
                <a:ea typeface="Inter"/>
                <a:cs typeface="Inter"/>
                <a:sym typeface="Inter"/>
              </a:rPr>
              <a:t>Calvin Ollison, Maryanna Fiorentino, Maren Musto, Dorotha Seawell, Micha Woodford</a:t>
            </a:r>
            <a:r>
              <a:rPr lang="en-US" sz="2214">
                <a:solidFill>
                  <a:srgbClr val="000000"/>
                </a:solidFill>
                <a:latin typeface="Inter"/>
                <a:ea typeface="Inter"/>
                <a:cs typeface="Inter"/>
                <a:sym typeface="Inter"/>
              </a:rPr>
              <a:t>, and </a:t>
            </a:r>
            <a:r>
              <a:rPr lang="en-US" sz="2214">
                <a:solidFill>
                  <a:srgbClr val="000000"/>
                </a:solidFill>
                <a:latin typeface="Inter"/>
                <a:ea typeface="Inter"/>
                <a:cs typeface="Inter"/>
                <a:sym typeface="Inter"/>
              </a:rPr>
              <a:t>Vernita Plump</a:t>
            </a:r>
            <a:r>
              <a:rPr lang="en-US" sz="2214">
                <a:solidFill>
                  <a:srgbClr val="000000"/>
                </a:solidFill>
                <a:latin typeface="Inter"/>
                <a:ea typeface="Inter"/>
                <a:cs typeface="Inter"/>
                <a:sym typeface="Inter"/>
              </a:rPr>
              <a:t> each secured 11 customers, while </a:t>
            </a:r>
            <a:r>
              <a:rPr lang="en-US" sz="2214">
                <a:solidFill>
                  <a:srgbClr val="000000"/>
                </a:solidFill>
                <a:latin typeface="Inter"/>
                <a:ea typeface="Inter"/>
                <a:cs typeface="Inter"/>
                <a:sym typeface="Inter"/>
              </a:rPr>
              <a:t>Brandie Riva </a:t>
            </a:r>
            <a:r>
              <a:rPr lang="en-US" sz="2214">
                <a:solidFill>
                  <a:srgbClr val="000000"/>
                </a:solidFill>
                <a:latin typeface="Inter"/>
                <a:ea typeface="Inter"/>
                <a:cs typeface="Inter"/>
                <a:sym typeface="Inter"/>
              </a:rPr>
              <a:t>and</a:t>
            </a:r>
            <a:r>
              <a:rPr lang="en-US" sz="2214">
                <a:solidFill>
                  <a:srgbClr val="000000"/>
                </a:solidFill>
                <a:latin typeface="Inter"/>
                <a:ea typeface="Inter"/>
                <a:cs typeface="Inter"/>
                <a:sym typeface="Inter"/>
              </a:rPr>
              <a:t> Hilma Busick</a:t>
            </a:r>
            <a:r>
              <a:rPr lang="en-US" sz="2214">
                <a:solidFill>
                  <a:srgbClr val="000000"/>
                </a:solidFill>
                <a:latin typeface="Inter"/>
                <a:ea typeface="Inter"/>
                <a:cs typeface="Inter"/>
                <a:sym typeface="Inter"/>
              </a:rPr>
              <a:t> followed with 10 customers apiece.</a:t>
            </a:r>
          </a:p>
          <a:p>
            <a:pPr algn="l">
              <a:lnSpc>
                <a:spcPts val="3454"/>
              </a:lnSpc>
            </a:pPr>
          </a:p>
          <a:p>
            <a:pPr algn="l" marL="0" indent="0" lvl="0">
              <a:lnSpc>
                <a:spcPts val="3454"/>
              </a:lnSpc>
            </a:pPr>
            <a:r>
              <a:rPr lang="en-US" sz="2214">
                <a:solidFill>
                  <a:srgbClr val="000000"/>
                </a:solidFill>
                <a:latin typeface="Inter"/>
                <a:ea typeface="Inter"/>
                <a:cs typeface="Inter"/>
                <a:sym typeface="Inter"/>
              </a:rPr>
              <a:t>This performance underscores both standout individual achievements and steady team-wide contributions, reinforcing the company’s strong foundation for continued growth.</a:t>
            </a:r>
          </a:p>
        </p:txBody>
      </p:sp>
      <p:sp>
        <p:nvSpPr>
          <p:cNvPr name="TextBox 10" id="10"/>
          <p:cNvSpPr txBox="true"/>
          <p:nvPr/>
        </p:nvSpPr>
        <p:spPr>
          <a:xfrm rot="0">
            <a:off x="1522182" y="365433"/>
            <a:ext cx="15243636" cy="1395092"/>
          </a:xfrm>
          <a:prstGeom prst="rect">
            <a:avLst/>
          </a:prstGeom>
        </p:spPr>
        <p:txBody>
          <a:bodyPr anchor="t" rtlCol="false" tIns="0" lIns="0" bIns="0" rIns="0">
            <a:spAutoFit/>
          </a:bodyPr>
          <a:lstStyle/>
          <a:p>
            <a:pPr algn="ctr" marL="0" indent="0" lvl="0">
              <a:lnSpc>
                <a:spcPts val="10780"/>
              </a:lnSpc>
              <a:spcBef>
                <a:spcPct val="0"/>
              </a:spcBef>
            </a:pPr>
            <a:r>
              <a:rPr lang="en-US" b="true" sz="7700">
                <a:solidFill>
                  <a:srgbClr val="BAD863"/>
                </a:solidFill>
                <a:latin typeface="Poppins Bold"/>
                <a:ea typeface="Poppins Bold"/>
                <a:cs typeface="Poppins Bold"/>
                <a:sym typeface="Poppins Bold"/>
              </a:rPr>
              <a:t>Customer Acquisition Metrics </a:t>
            </a:r>
          </a:p>
        </p:txBody>
      </p:sp>
      <p:sp>
        <p:nvSpPr>
          <p:cNvPr name="Freeform 11" id="11"/>
          <p:cNvSpPr/>
          <p:nvPr/>
        </p:nvSpPr>
        <p:spPr>
          <a:xfrm flipH="false" flipV="false" rot="0">
            <a:off x="16485460" y="8147408"/>
            <a:ext cx="4048809" cy="2221784"/>
          </a:xfrm>
          <a:custGeom>
            <a:avLst/>
            <a:gdLst/>
            <a:ahLst/>
            <a:cxnLst/>
            <a:rect r="r" b="b" t="t" l="l"/>
            <a:pathLst>
              <a:path h="2221784" w="4048809">
                <a:moveTo>
                  <a:pt x="0" y="0"/>
                </a:moveTo>
                <a:lnTo>
                  <a:pt x="4048809" y="0"/>
                </a:lnTo>
                <a:lnTo>
                  <a:pt x="4048809" y="2221784"/>
                </a:lnTo>
                <a:lnTo>
                  <a:pt x="0" y="2221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514350" y="-238728"/>
            <a:ext cx="19334753" cy="6165482"/>
            <a:chOff x="0" y="0"/>
            <a:chExt cx="5092281" cy="1623831"/>
          </a:xfrm>
        </p:grpSpPr>
        <p:sp>
          <p:nvSpPr>
            <p:cNvPr name="Freeform 3" id="3"/>
            <p:cNvSpPr/>
            <p:nvPr/>
          </p:nvSpPr>
          <p:spPr>
            <a:xfrm flipH="false" flipV="false" rot="0">
              <a:off x="0" y="0"/>
              <a:ext cx="5092281" cy="1623831"/>
            </a:xfrm>
            <a:custGeom>
              <a:avLst/>
              <a:gdLst/>
              <a:ahLst/>
              <a:cxnLst/>
              <a:rect r="r" b="b" t="t" l="l"/>
              <a:pathLst>
                <a:path h="1623831" w="5092281">
                  <a:moveTo>
                    <a:pt x="0" y="0"/>
                  </a:moveTo>
                  <a:lnTo>
                    <a:pt x="5092281" y="0"/>
                  </a:lnTo>
                  <a:lnTo>
                    <a:pt x="5092281" y="1623831"/>
                  </a:lnTo>
                  <a:lnTo>
                    <a:pt x="0" y="1623831"/>
                  </a:lnTo>
                  <a:close/>
                </a:path>
              </a:pathLst>
            </a:custGeom>
            <a:solidFill>
              <a:srgbClr val="597E52"/>
            </a:solidFill>
          </p:spPr>
        </p:sp>
        <p:sp>
          <p:nvSpPr>
            <p:cNvPr name="TextBox 4" id="4"/>
            <p:cNvSpPr txBox="true"/>
            <p:nvPr/>
          </p:nvSpPr>
          <p:spPr>
            <a:xfrm>
              <a:off x="0" y="-38100"/>
              <a:ext cx="5092281" cy="166193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83146" y="5143500"/>
            <a:ext cx="4048809" cy="2221784"/>
          </a:xfrm>
          <a:custGeom>
            <a:avLst/>
            <a:gdLst/>
            <a:ahLst/>
            <a:cxnLst/>
            <a:rect r="r" b="b" t="t" l="l"/>
            <a:pathLst>
              <a:path h="2221784" w="4048809">
                <a:moveTo>
                  <a:pt x="0" y="0"/>
                </a:moveTo>
                <a:lnTo>
                  <a:pt x="4048809" y="0"/>
                </a:lnTo>
                <a:lnTo>
                  <a:pt x="4048809" y="2221784"/>
                </a:lnTo>
                <a:lnTo>
                  <a:pt x="0" y="2221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432678" y="2241074"/>
            <a:ext cx="17463437" cy="7524180"/>
            <a:chOff x="0" y="0"/>
            <a:chExt cx="4599424" cy="1981677"/>
          </a:xfrm>
        </p:grpSpPr>
        <p:sp>
          <p:nvSpPr>
            <p:cNvPr name="Freeform 7" id="7"/>
            <p:cNvSpPr/>
            <p:nvPr/>
          </p:nvSpPr>
          <p:spPr>
            <a:xfrm flipH="false" flipV="false" rot="0">
              <a:off x="0" y="0"/>
              <a:ext cx="4599424" cy="1981677"/>
            </a:xfrm>
            <a:custGeom>
              <a:avLst/>
              <a:gdLst/>
              <a:ahLst/>
              <a:cxnLst/>
              <a:rect r="r" b="b" t="t" l="l"/>
              <a:pathLst>
                <a:path h="1981677" w="4599424">
                  <a:moveTo>
                    <a:pt x="0" y="0"/>
                  </a:moveTo>
                  <a:lnTo>
                    <a:pt x="4599424" y="0"/>
                  </a:lnTo>
                  <a:lnTo>
                    <a:pt x="4599424" y="1981677"/>
                  </a:lnTo>
                  <a:lnTo>
                    <a:pt x="0" y="1981677"/>
                  </a:lnTo>
                  <a:close/>
                </a:path>
              </a:pathLst>
            </a:custGeom>
            <a:solidFill>
              <a:srgbClr val="597E52"/>
            </a:solidFill>
          </p:spPr>
        </p:sp>
        <p:sp>
          <p:nvSpPr>
            <p:cNvPr name="TextBox 8" id="8"/>
            <p:cNvSpPr txBox="true"/>
            <p:nvPr/>
          </p:nvSpPr>
          <p:spPr>
            <a:xfrm>
              <a:off x="0" y="-38100"/>
              <a:ext cx="4599424" cy="201977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83112" y="1559276"/>
            <a:ext cx="16176188" cy="8205978"/>
          </a:xfrm>
          <a:prstGeom prst="rect">
            <a:avLst/>
          </a:prstGeom>
        </p:spPr>
        <p:txBody>
          <a:bodyPr anchor="t" rtlCol="false" tIns="0" lIns="0" bIns="0" rIns="0">
            <a:spAutoFit/>
          </a:bodyPr>
          <a:lstStyle/>
          <a:p>
            <a:pPr algn="l">
              <a:lnSpc>
                <a:spcPts val="4055"/>
              </a:lnSpc>
            </a:pPr>
            <a:r>
              <a:rPr lang="en-US" sz="2599">
                <a:solidFill>
                  <a:srgbClr val="FFFFEC"/>
                </a:solidFill>
                <a:latin typeface="Inter"/>
                <a:ea typeface="Inter"/>
                <a:cs typeface="Inter"/>
                <a:sym typeface="Inter"/>
              </a:rPr>
              <a:t>The sales performance analysis positions EOG Resources as the standout client, recording the highest purchase volume of 56,410 units and generating $382,873.30 in revenue. This establishes EOG Resources not only as the largest customer but also as a critical driver of overall profitability.</a:t>
            </a:r>
          </a:p>
          <a:p>
            <a:pPr algn="l">
              <a:lnSpc>
                <a:spcPts val="4055"/>
              </a:lnSpc>
            </a:pPr>
          </a:p>
          <a:p>
            <a:pPr algn="l">
              <a:lnSpc>
                <a:spcPts val="4055"/>
              </a:lnSpc>
            </a:pPr>
            <a:r>
              <a:rPr lang="en-US" sz="2599">
                <a:solidFill>
                  <a:srgbClr val="FFFFEC"/>
                </a:solidFill>
                <a:latin typeface="Inter"/>
                <a:ea typeface="Inter"/>
                <a:cs typeface="Inter"/>
                <a:sym typeface="Inter"/>
              </a:rPr>
              <a:t>Mosaic follows closely with 49,246 units and $345,618.59, reinforcing its role as a reliable high-value partner, while IBM, with 47,506 units and $326,819.48, secures the third spot, underscoring the importance of strong corporate accounts in sustaining growth.</a:t>
            </a:r>
          </a:p>
          <a:p>
            <a:pPr algn="l">
              <a:lnSpc>
                <a:spcPts val="4055"/>
              </a:lnSpc>
            </a:pPr>
          </a:p>
          <a:p>
            <a:pPr algn="l">
              <a:lnSpc>
                <a:spcPts val="4055"/>
              </a:lnSpc>
            </a:pPr>
            <a:r>
              <a:rPr lang="en-US" sz="2599">
                <a:solidFill>
                  <a:srgbClr val="FFFFEC"/>
                </a:solidFill>
                <a:latin typeface="Inter"/>
                <a:ea typeface="Inter"/>
                <a:cs typeface="Inter"/>
                <a:sym typeface="Inter"/>
              </a:rPr>
              <a:t>Completing the top five, General Dynamics contributed 43,730 units worth $300,694.79, and Republic Services added 40,833 units generating $293,861.14, both reflecting steady and dependable revenue streams that bolster financial stability.</a:t>
            </a:r>
          </a:p>
          <a:p>
            <a:pPr algn="l">
              <a:lnSpc>
                <a:spcPts val="4055"/>
              </a:lnSpc>
            </a:pPr>
          </a:p>
          <a:p>
            <a:pPr algn="l" marL="0" indent="0" lvl="0">
              <a:lnSpc>
                <a:spcPts val="4055"/>
              </a:lnSpc>
            </a:pPr>
            <a:r>
              <a:rPr lang="en-US" sz="2599">
                <a:solidFill>
                  <a:srgbClr val="FFFFEC"/>
                </a:solidFill>
                <a:latin typeface="Inter"/>
                <a:ea typeface="Inter"/>
                <a:cs typeface="Inter"/>
                <a:sym typeface="Inter"/>
              </a:rPr>
              <a:t>Together, these top five accounts form the backbone of customer performance, representing a balanced mix of scale, consistency, and profitability. Their combined strength highlights the company’s ability to attract and retain high-value customers while also signaling opportunities to deepen engagement with these strategic partners.</a:t>
            </a:r>
          </a:p>
        </p:txBody>
      </p:sp>
      <p:sp>
        <p:nvSpPr>
          <p:cNvPr name="TextBox 10" id="10"/>
          <p:cNvSpPr txBox="true"/>
          <p:nvPr/>
        </p:nvSpPr>
        <p:spPr>
          <a:xfrm rot="0">
            <a:off x="1522182" y="-103153"/>
            <a:ext cx="15243636" cy="1595754"/>
          </a:xfrm>
          <a:prstGeom prst="rect">
            <a:avLst/>
          </a:prstGeom>
        </p:spPr>
        <p:txBody>
          <a:bodyPr anchor="t" rtlCol="false" tIns="0" lIns="0" bIns="0" rIns="0">
            <a:spAutoFit/>
          </a:bodyPr>
          <a:lstStyle/>
          <a:p>
            <a:pPr algn="ctr" marL="0" indent="0" lvl="0">
              <a:lnSpc>
                <a:spcPts val="12320"/>
              </a:lnSpc>
              <a:spcBef>
                <a:spcPct val="0"/>
              </a:spcBef>
            </a:pPr>
            <a:r>
              <a:rPr lang="en-US" b="true" sz="8800">
                <a:solidFill>
                  <a:srgbClr val="BAD863"/>
                </a:solidFill>
                <a:latin typeface="Poppins Bold"/>
                <a:ea typeface="Poppins Bold"/>
                <a:cs typeface="Poppins Bold"/>
                <a:sym typeface="Poppins Bold"/>
              </a:rPr>
              <a:t>Top Customers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514350" y="-238728"/>
            <a:ext cx="19334753" cy="6165482"/>
            <a:chOff x="0" y="0"/>
            <a:chExt cx="5092281" cy="1623831"/>
          </a:xfrm>
        </p:grpSpPr>
        <p:sp>
          <p:nvSpPr>
            <p:cNvPr name="Freeform 3" id="3"/>
            <p:cNvSpPr/>
            <p:nvPr/>
          </p:nvSpPr>
          <p:spPr>
            <a:xfrm flipH="false" flipV="false" rot="0">
              <a:off x="0" y="0"/>
              <a:ext cx="5092281" cy="1623831"/>
            </a:xfrm>
            <a:custGeom>
              <a:avLst/>
              <a:gdLst/>
              <a:ahLst/>
              <a:cxnLst/>
              <a:rect r="r" b="b" t="t" l="l"/>
              <a:pathLst>
                <a:path h="1623831" w="5092281">
                  <a:moveTo>
                    <a:pt x="0" y="0"/>
                  </a:moveTo>
                  <a:lnTo>
                    <a:pt x="5092281" y="0"/>
                  </a:lnTo>
                  <a:lnTo>
                    <a:pt x="5092281" y="1623831"/>
                  </a:lnTo>
                  <a:lnTo>
                    <a:pt x="0" y="1623831"/>
                  </a:lnTo>
                  <a:close/>
                </a:path>
              </a:pathLst>
            </a:custGeom>
            <a:solidFill>
              <a:srgbClr val="597E52"/>
            </a:solidFill>
          </p:spPr>
        </p:sp>
        <p:sp>
          <p:nvSpPr>
            <p:cNvPr name="TextBox 4" id="4"/>
            <p:cNvSpPr txBox="true"/>
            <p:nvPr/>
          </p:nvSpPr>
          <p:spPr>
            <a:xfrm>
              <a:off x="0" y="-38100"/>
              <a:ext cx="5092281" cy="16619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22470" y="2241074"/>
            <a:ext cx="17573645" cy="7524180"/>
            <a:chOff x="0" y="0"/>
            <a:chExt cx="4628450" cy="1981677"/>
          </a:xfrm>
        </p:grpSpPr>
        <p:sp>
          <p:nvSpPr>
            <p:cNvPr name="Freeform 6" id="6"/>
            <p:cNvSpPr/>
            <p:nvPr/>
          </p:nvSpPr>
          <p:spPr>
            <a:xfrm flipH="false" flipV="false" rot="0">
              <a:off x="0" y="0"/>
              <a:ext cx="4628450" cy="1981677"/>
            </a:xfrm>
            <a:custGeom>
              <a:avLst/>
              <a:gdLst/>
              <a:ahLst/>
              <a:cxnLst/>
              <a:rect r="r" b="b" t="t" l="l"/>
              <a:pathLst>
                <a:path h="1981677" w="4628450">
                  <a:moveTo>
                    <a:pt x="0" y="0"/>
                  </a:moveTo>
                  <a:lnTo>
                    <a:pt x="4628450" y="0"/>
                  </a:lnTo>
                  <a:lnTo>
                    <a:pt x="4628450" y="1981677"/>
                  </a:lnTo>
                  <a:lnTo>
                    <a:pt x="0" y="1981677"/>
                  </a:lnTo>
                  <a:close/>
                </a:path>
              </a:pathLst>
            </a:custGeom>
            <a:solidFill>
              <a:srgbClr val="597E52"/>
            </a:solidFill>
          </p:spPr>
        </p:sp>
        <p:sp>
          <p:nvSpPr>
            <p:cNvPr name="TextBox 7" id="7"/>
            <p:cNvSpPr txBox="true"/>
            <p:nvPr/>
          </p:nvSpPr>
          <p:spPr>
            <a:xfrm>
              <a:off x="0" y="-38100"/>
              <a:ext cx="4628450" cy="2019777"/>
            </a:xfrm>
            <a:prstGeom prst="rect">
              <a:avLst/>
            </a:prstGeom>
          </p:spPr>
          <p:txBody>
            <a:bodyPr anchor="ctr" rtlCol="false" tIns="50800" lIns="50800" bIns="50800" rIns="50800"/>
            <a:lstStyle/>
            <a:p>
              <a:pPr algn="ctr">
                <a:lnSpc>
                  <a:spcPts val="2659"/>
                </a:lnSpc>
              </a:pPr>
            </a:p>
          </p:txBody>
        </p:sp>
      </p:grpSp>
      <p:pic>
        <p:nvPicPr>
          <p:cNvPr name="Picture 8" id="8"/>
          <p:cNvPicPr>
            <a:picLocks noChangeAspect="true"/>
          </p:cNvPicPr>
          <p:nvPr/>
        </p:nvPicPr>
        <p:blipFill>
          <a:blip r:embed="rId2"/>
          <a:stretch>
            <a:fillRect/>
          </a:stretch>
        </p:blipFill>
        <p:spPr>
          <a:xfrm rot="0">
            <a:off x="-1244753" y="295860"/>
            <a:ext cx="20269367" cy="10558745"/>
          </a:xfrm>
          <a:prstGeom prst="rect">
            <a:avLst/>
          </a:prstGeom>
        </p:spPr>
      </p:pic>
      <p:sp>
        <p:nvSpPr>
          <p:cNvPr name="TextBox 9" id="9"/>
          <p:cNvSpPr txBox="true"/>
          <p:nvPr/>
        </p:nvSpPr>
        <p:spPr>
          <a:xfrm rot="0">
            <a:off x="1522182" y="336858"/>
            <a:ext cx="15243636" cy="1595754"/>
          </a:xfrm>
          <a:prstGeom prst="rect">
            <a:avLst/>
          </a:prstGeom>
        </p:spPr>
        <p:txBody>
          <a:bodyPr anchor="t" rtlCol="false" tIns="0" lIns="0" bIns="0" rIns="0">
            <a:spAutoFit/>
          </a:bodyPr>
          <a:lstStyle/>
          <a:p>
            <a:pPr algn="ctr" marL="0" indent="0" lvl="0">
              <a:lnSpc>
                <a:spcPts val="12320"/>
              </a:lnSpc>
              <a:spcBef>
                <a:spcPct val="0"/>
              </a:spcBef>
            </a:pPr>
            <a:r>
              <a:rPr lang="en-US" b="true" sz="8800">
                <a:solidFill>
                  <a:srgbClr val="BAD863"/>
                </a:solidFill>
                <a:latin typeface="Poppins Bold"/>
                <a:ea typeface="Poppins Bold"/>
                <a:cs typeface="Poppins Bold"/>
                <a:sym typeface="Poppins Bold"/>
              </a:rPr>
              <a:t>Top Customers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9144000" y="-271204"/>
            <a:ext cx="9144000" cy="11423944"/>
            <a:chOff x="0" y="0"/>
            <a:chExt cx="2408296" cy="3008775"/>
          </a:xfrm>
        </p:grpSpPr>
        <p:sp>
          <p:nvSpPr>
            <p:cNvPr name="Freeform 3" id="3"/>
            <p:cNvSpPr/>
            <p:nvPr/>
          </p:nvSpPr>
          <p:spPr>
            <a:xfrm flipH="false" flipV="false" rot="0">
              <a:off x="0" y="0"/>
              <a:ext cx="2408296" cy="3008775"/>
            </a:xfrm>
            <a:custGeom>
              <a:avLst/>
              <a:gdLst/>
              <a:ahLst/>
              <a:cxnLst/>
              <a:rect r="r" b="b" t="t" l="l"/>
              <a:pathLst>
                <a:path h="3008775" w="2408296">
                  <a:moveTo>
                    <a:pt x="0" y="0"/>
                  </a:moveTo>
                  <a:lnTo>
                    <a:pt x="2408296" y="0"/>
                  </a:lnTo>
                  <a:lnTo>
                    <a:pt x="2408296" y="3008775"/>
                  </a:lnTo>
                  <a:lnTo>
                    <a:pt x="0" y="3008775"/>
                  </a:lnTo>
                  <a:close/>
                </a:path>
              </a:pathLst>
            </a:custGeom>
            <a:solidFill>
              <a:srgbClr val="597E52"/>
            </a:solidFill>
          </p:spPr>
        </p:sp>
        <p:sp>
          <p:nvSpPr>
            <p:cNvPr name="TextBox 4" id="4"/>
            <p:cNvSpPr txBox="true"/>
            <p:nvPr/>
          </p:nvSpPr>
          <p:spPr>
            <a:xfrm>
              <a:off x="0" y="-38100"/>
              <a:ext cx="2408296" cy="30468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37875" y="-687285"/>
            <a:ext cx="2958346" cy="29583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AD86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873428" y="9421260"/>
            <a:ext cx="3155318" cy="1731481"/>
          </a:xfrm>
          <a:custGeom>
            <a:avLst/>
            <a:gdLst/>
            <a:ahLst/>
            <a:cxnLst/>
            <a:rect r="r" b="b" t="t" l="l"/>
            <a:pathLst>
              <a:path h="1731481" w="3155318">
                <a:moveTo>
                  <a:pt x="0" y="0"/>
                </a:moveTo>
                <a:lnTo>
                  <a:pt x="3155318" y="0"/>
                </a:lnTo>
                <a:lnTo>
                  <a:pt x="3155318" y="1731480"/>
                </a:lnTo>
                <a:lnTo>
                  <a:pt x="0" y="1731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763313"/>
            <a:ext cx="8115300" cy="2453259"/>
          </a:xfrm>
          <a:prstGeom prst="rect">
            <a:avLst/>
          </a:prstGeom>
        </p:spPr>
        <p:txBody>
          <a:bodyPr anchor="t" rtlCol="false" tIns="0" lIns="0" bIns="0" rIns="0">
            <a:spAutoFit/>
          </a:bodyPr>
          <a:lstStyle/>
          <a:p>
            <a:pPr algn="l" marL="0" indent="0" lvl="0">
              <a:lnSpc>
                <a:spcPts val="9347"/>
              </a:lnSpc>
            </a:pPr>
            <a:r>
              <a:rPr lang="en-US" b="true" sz="8199">
                <a:solidFill>
                  <a:srgbClr val="597E52"/>
                </a:solidFill>
                <a:latin typeface="Poppins Bold"/>
                <a:ea typeface="Poppins Bold"/>
                <a:cs typeface="Poppins Bold"/>
                <a:sym typeface="Poppins Bold"/>
              </a:rPr>
              <a:t>Online Sales Performance</a:t>
            </a:r>
          </a:p>
        </p:txBody>
      </p:sp>
      <p:sp>
        <p:nvSpPr>
          <p:cNvPr name="TextBox 10" id="10"/>
          <p:cNvSpPr txBox="true"/>
          <p:nvPr/>
        </p:nvSpPr>
        <p:spPr>
          <a:xfrm rot="0">
            <a:off x="1028700" y="3553242"/>
            <a:ext cx="7204692" cy="5443855"/>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Inter"/>
                <a:ea typeface="Inter"/>
                <a:cs typeface="Inter"/>
                <a:sym typeface="Inter"/>
              </a:rPr>
              <a:t>The analysis shows the </a:t>
            </a:r>
            <a:r>
              <a:rPr lang="en-US" b="true" sz="2799">
                <a:solidFill>
                  <a:srgbClr val="597E52"/>
                </a:solidFill>
                <a:latin typeface="Inter Bold"/>
                <a:ea typeface="Inter Bold"/>
                <a:cs typeface="Inter Bold"/>
                <a:sym typeface="Inter Bold"/>
              </a:rPr>
              <a:t>direct </a:t>
            </a:r>
            <a:r>
              <a:rPr lang="en-US" sz="2799">
                <a:solidFill>
                  <a:srgbClr val="000000"/>
                </a:solidFill>
                <a:latin typeface="Inter"/>
                <a:ea typeface="Inter"/>
                <a:cs typeface="Inter"/>
                <a:sym typeface="Inter"/>
              </a:rPr>
              <a:t>channel leading by a wide margin with </a:t>
            </a:r>
            <a:r>
              <a:rPr lang="en-US" b="true" sz="2799" i="true">
                <a:solidFill>
                  <a:srgbClr val="000000"/>
                </a:solidFill>
                <a:latin typeface="Inter Bold Italics"/>
                <a:ea typeface="Inter Bold Italics"/>
                <a:cs typeface="Inter Bold Italics"/>
                <a:sym typeface="Inter Bold Italics"/>
              </a:rPr>
              <a:t>$639.7 million</a:t>
            </a:r>
            <a:r>
              <a:rPr lang="en-US" sz="2799">
                <a:solidFill>
                  <a:srgbClr val="000000"/>
                </a:solidFill>
                <a:latin typeface="Inter"/>
                <a:ea typeface="Inter"/>
                <a:cs typeface="Inter"/>
                <a:sym typeface="Inter"/>
              </a:rPr>
              <a:t>, making it the backbone of revenue generation. </a:t>
            </a:r>
            <a:r>
              <a:rPr lang="en-US" b="true" sz="2799">
                <a:solidFill>
                  <a:srgbClr val="000000"/>
                </a:solidFill>
                <a:latin typeface="Inter Bold"/>
                <a:ea typeface="Inter Bold"/>
                <a:cs typeface="Inter Bold"/>
                <a:sym typeface="Inter Bold"/>
              </a:rPr>
              <a:t>Facebook</a:t>
            </a:r>
            <a:r>
              <a:rPr lang="en-US" sz="2799">
                <a:solidFill>
                  <a:srgbClr val="000000"/>
                </a:solidFill>
                <a:latin typeface="Inter"/>
                <a:ea typeface="Inter"/>
                <a:cs typeface="Inter"/>
                <a:sym typeface="Inter"/>
              </a:rPr>
              <a:t> and </a:t>
            </a:r>
            <a:r>
              <a:rPr lang="en-US" b="true" sz="2799">
                <a:solidFill>
                  <a:srgbClr val="000000"/>
                </a:solidFill>
                <a:latin typeface="Inter Bold"/>
                <a:ea typeface="Inter Bold"/>
                <a:cs typeface="Inter Bold"/>
                <a:sym typeface="Inter Bold"/>
              </a:rPr>
              <a:t>organic </a:t>
            </a:r>
            <a:r>
              <a:rPr lang="en-US" sz="2799">
                <a:solidFill>
                  <a:srgbClr val="000000"/>
                </a:solidFill>
                <a:latin typeface="Inter"/>
                <a:ea typeface="Inter"/>
                <a:cs typeface="Inter"/>
                <a:sym typeface="Inter"/>
              </a:rPr>
              <a:t>channels follow with </a:t>
            </a:r>
            <a:r>
              <a:rPr lang="en-US" b="true" sz="2799" i="true">
                <a:solidFill>
                  <a:srgbClr val="000000"/>
                </a:solidFill>
                <a:latin typeface="Inter Bold Italics"/>
                <a:ea typeface="Inter Bold Italics"/>
                <a:cs typeface="Inter Bold Italics"/>
                <a:sym typeface="Inter Bold Italics"/>
              </a:rPr>
              <a:t>$103.0 million</a:t>
            </a:r>
            <a:r>
              <a:rPr lang="en-US" sz="2799">
                <a:solidFill>
                  <a:srgbClr val="000000"/>
                </a:solidFill>
                <a:latin typeface="Inter"/>
                <a:ea typeface="Inter"/>
                <a:cs typeface="Inter"/>
                <a:sym typeface="Inter"/>
              </a:rPr>
              <a:t> and </a:t>
            </a:r>
            <a:r>
              <a:rPr lang="en-US" b="true" sz="2799" i="true">
                <a:solidFill>
                  <a:srgbClr val="000000"/>
                </a:solidFill>
                <a:latin typeface="Inter Bold Italics"/>
                <a:ea typeface="Inter Bold Italics"/>
                <a:cs typeface="Inter Bold Italics"/>
                <a:sym typeface="Inter Bold Italics"/>
              </a:rPr>
              <a:t>$102.1 million</a:t>
            </a:r>
            <a:r>
              <a:rPr lang="en-US" sz="2799">
                <a:solidFill>
                  <a:srgbClr val="000000"/>
                </a:solidFill>
                <a:latin typeface="Inter"/>
                <a:ea typeface="Inter"/>
                <a:cs typeface="Inter"/>
                <a:sym typeface="Inter"/>
              </a:rPr>
              <a:t> respectively, reflecting the growing role of digital platforms in expanding reach. Together, these results highlight a strong reliance on direct sales while also pointing to opportunities for growth through online engagement.</a:t>
            </a:r>
          </a:p>
        </p:txBody>
      </p:sp>
      <p:pic>
        <p:nvPicPr>
          <p:cNvPr name="Picture 11" id="11"/>
          <p:cNvPicPr>
            <a:picLocks noChangeAspect="true"/>
          </p:cNvPicPr>
          <p:nvPr/>
        </p:nvPicPr>
        <p:blipFill>
          <a:blip r:embed="rId4"/>
          <a:stretch>
            <a:fillRect/>
          </a:stretch>
        </p:blipFill>
        <p:spPr>
          <a:xfrm rot="0">
            <a:off x="9274764" y="1250248"/>
            <a:ext cx="9047783" cy="8249927"/>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1913426" y="535460"/>
            <a:ext cx="11729375" cy="9157472"/>
            <a:chOff x="0" y="0"/>
            <a:chExt cx="3089218" cy="2411845"/>
          </a:xfrm>
        </p:grpSpPr>
        <p:sp>
          <p:nvSpPr>
            <p:cNvPr name="Freeform 3" id="3"/>
            <p:cNvSpPr/>
            <p:nvPr/>
          </p:nvSpPr>
          <p:spPr>
            <a:xfrm flipH="false" flipV="false" rot="0">
              <a:off x="0" y="0"/>
              <a:ext cx="3089218" cy="2411845"/>
            </a:xfrm>
            <a:custGeom>
              <a:avLst/>
              <a:gdLst/>
              <a:ahLst/>
              <a:cxnLst/>
              <a:rect r="r" b="b" t="t" l="l"/>
              <a:pathLst>
                <a:path h="2411845" w="3089218">
                  <a:moveTo>
                    <a:pt x="0" y="0"/>
                  </a:moveTo>
                  <a:lnTo>
                    <a:pt x="3089218" y="0"/>
                  </a:lnTo>
                  <a:lnTo>
                    <a:pt x="3089218" y="2411845"/>
                  </a:lnTo>
                  <a:lnTo>
                    <a:pt x="0" y="2411845"/>
                  </a:lnTo>
                  <a:close/>
                </a:path>
              </a:pathLst>
            </a:custGeom>
            <a:solidFill>
              <a:srgbClr val="597E52"/>
            </a:solidFill>
          </p:spPr>
        </p:sp>
        <p:sp>
          <p:nvSpPr>
            <p:cNvPr name="TextBox 4" id="4"/>
            <p:cNvSpPr txBox="true"/>
            <p:nvPr/>
          </p:nvSpPr>
          <p:spPr>
            <a:xfrm>
              <a:off x="0" y="-38100"/>
              <a:ext cx="3089218" cy="244994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79173" y="-943713"/>
            <a:ext cx="2958346" cy="29583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AD86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79173" y="1696498"/>
            <a:ext cx="7935225" cy="3140411"/>
            <a:chOff x="0" y="0"/>
            <a:chExt cx="2089936" cy="827104"/>
          </a:xfrm>
        </p:grpSpPr>
        <p:sp>
          <p:nvSpPr>
            <p:cNvPr name="Freeform 9" id="9"/>
            <p:cNvSpPr/>
            <p:nvPr/>
          </p:nvSpPr>
          <p:spPr>
            <a:xfrm flipH="false" flipV="false" rot="0">
              <a:off x="0" y="0"/>
              <a:ext cx="2089936" cy="827104"/>
            </a:xfrm>
            <a:custGeom>
              <a:avLst/>
              <a:gdLst/>
              <a:ahLst/>
              <a:cxnLst/>
              <a:rect r="r" b="b" t="t" l="l"/>
              <a:pathLst>
                <a:path h="827104" w="2089936">
                  <a:moveTo>
                    <a:pt x="49758" y="0"/>
                  </a:moveTo>
                  <a:lnTo>
                    <a:pt x="2040178" y="0"/>
                  </a:lnTo>
                  <a:cubicBezTo>
                    <a:pt x="2067659" y="0"/>
                    <a:pt x="2089936" y="22277"/>
                    <a:pt x="2089936" y="49758"/>
                  </a:cubicBezTo>
                  <a:lnTo>
                    <a:pt x="2089936" y="777347"/>
                  </a:lnTo>
                  <a:cubicBezTo>
                    <a:pt x="2089936" y="804827"/>
                    <a:pt x="2067659" y="827104"/>
                    <a:pt x="2040178" y="827104"/>
                  </a:cubicBezTo>
                  <a:lnTo>
                    <a:pt x="49758" y="827104"/>
                  </a:lnTo>
                  <a:cubicBezTo>
                    <a:pt x="22277" y="827104"/>
                    <a:pt x="0" y="804827"/>
                    <a:pt x="0" y="777347"/>
                  </a:cubicBezTo>
                  <a:lnTo>
                    <a:pt x="0" y="49758"/>
                  </a:lnTo>
                  <a:cubicBezTo>
                    <a:pt x="0" y="22277"/>
                    <a:pt x="22277" y="0"/>
                    <a:pt x="49758" y="0"/>
                  </a:cubicBezTo>
                  <a:close/>
                </a:path>
              </a:pathLst>
            </a:custGeom>
            <a:solidFill>
              <a:srgbClr val="93C00C"/>
            </a:solidFill>
          </p:spPr>
        </p:sp>
        <p:sp>
          <p:nvSpPr>
            <p:cNvPr name="TextBox 10" id="10"/>
            <p:cNvSpPr txBox="true"/>
            <p:nvPr/>
          </p:nvSpPr>
          <p:spPr>
            <a:xfrm>
              <a:off x="0" y="-76200"/>
              <a:ext cx="2089936" cy="903304"/>
            </a:xfrm>
            <a:prstGeom prst="rect">
              <a:avLst/>
            </a:prstGeom>
          </p:spPr>
          <p:txBody>
            <a:bodyPr anchor="ctr" rtlCol="false" tIns="50800" lIns="50800" bIns="50800" rIns="50800"/>
            <a:lstStyle/>
            <a:p>
              <a:pPr algn="ctr">
                <a:lnSpc>
                  <a:spcPts val="5599"/>
                </a:lnSpc>
              </a:pPr>
              <a:r>
                <a:rPr lang="en-US" sz="3999" b="true">
                  <a:solidFill>
                    <a:srgbClr val="597E52"/>
                  </a:solidFill>
                  <a:latin typeface="Inter Bold"/>
                  <a:ea typeface="Inter Bold"/>
                  <a:cs typeface="Inter Bold"/>
                  <a:sym typeface="Inter Bold"/>
                </a:rPr>
                <a:t>TOTAL ORDERS</a:t>
              </a:r>
            </a:p>
            <a:p>
              <a:pPr algn="ctr">
                <a:lnSpc>
                  <a:spcPts val="5599"/>
                </a:lnSpc>
              </a:pPr>
            </a:p>
            <a:p>
              <a:pPr algn="ctr">
                <a:lnSpc>
                  <a:spcPts val="5599"/>
                </a:lnSpc>
              </a:pPr>
              <a:r>
                <a:rPr lang="en-US" b="true" sz="3999">
                  <a:solidFill>
                    <a:srgbClr val="597E52"/>
                  </a:solidFill>
                  <a:latin typeface="Inter Bold"/>
                  <a:ea typeface="Inter Bold"/>
                  <a:cs typeface="Inter Bold"/>
                  <a:sym typeface="Inter Bold"/>
                </a:rPr>
                <a:t>6912</a:t>
              </a:r>
            </a:p>
          </p:txBody>
        </p:sp>
      </p:grpSp>
      <p:sp>
        <p:nvSpPr>
          <p:cNvPr name="TextBox 11" id="11"/>
          <p:cNvSpPr txBox="true"/>
          <p:nvPr/>
        </p:nvSpPr>
        <p:spPr>
          <a:xfrm rot="0">
            <a:off x="10391781" y="358702"/>
            <a:ext cx="7200894" cy="2589866"/>
          </a:xfrm>
          <a:prstGeom prst="rect">
            <a:avLst/>
          </a:prstGeom>
        </p:spPr>
        <p:txBody>
          <a:bodyPr anchor="t" rtlCol="false" tIns="0" lIns="0" bIns="0" rIns="0">
            <a:spAutoFit/>
          </a:bodyPr>
          <a:lstStyle/>
          <a:p>
            <a:pPr algn="r">
              <a:lnSpc>
                <a:spcPts val="9964"/>
              </a:lnSpc>
            </a:pPr>
            <a:r>
              <a:rPr lang="en-US" sz="8235" b="true">
                <a:solidFill>
                  <a:srgbClr val="597E52"/>
                </a:solidFill>
                <a:latin typeface="Poppins Bold"/>
                <a:ea typeface="Poppins Bold"/>
                <a:cs typeface="Poppins Bold"/>
                <a:sym typeface="Poppins Bold"/>
              </a:rPr>
              <a:t>Orders and </a:t>
            </a:r>
          </a:p>
          <a:p>
            <a:pPr algn="r">
              <a:lnSpc>
                <a:spcPts val="9964"/>
              </a:lnSpc>
            </a:pPr>
            <a:r>
              <a:rPr lang="en-US" b="true" sz="8235">
                <a:solidFill>
                  <a:srgbClr val="597E52"/>
                </a:solidFill>
                <a:latin typeface="Poppins Bold"/>
                <a:ea typeface="Poppins Bold"/>
                <a:cs typeface="Poppins Bold"/>
                <a:sym typeface="Poppins Bold"/>
              </a:rPr>
              <a:t>Revenue</a:t>
            </a:r>
          </a:p>
        </p:txBody>
      </p:sp>
      <p:sp>
        <p:nvSpPr>
          <p:cNvPr name="TextBox 12" id="12"/>
          <p:cNvSpPr txBox="true"/>
          <p:nvPr/>
        </p:nvSpPr>
        <p:spPr>
          <a:xfrm rot="0">
            <a:off x="10257250" y="2982451"/>
            <a:ext cx="7469957" cy="7176188"/>
          </a:xfrm>
          <a:prstGeom prst="rect">
            <a:avLst/>
          </a:prstGeom>
        </p:spPr>
        <p:txBody>
          <a:bodyPr anchor="t" rtlCol="false" tIns="0" lIns="0" bIns="0" rIns="0">
            <a:spAutoFit/>
          </a:bodyPr>
          <a:lstStyle/>
          <a:p>
            <a:pPr algn="r" marL="0" indent="0" lvl="0">
              <a:lnSpc>
                <a:spcPts val="4090"/>
              </a:lnSpc>
              <a:spcBef>
                <a:spcPct val="0"/>
              </a:spcBef>
            </a:pPr>
            <a:r>
              <a:rPr lang="en-US" sz="2921">
                <a:solidFill>
                  <a:srgbClr val="000000"/>
                </a:solidFill>
                <a:latin typeface="Inter"/>
                <a:ea typeface="Inter"/>
                <a:cs typeface="Inter"/>
                <a:sym typeface="Inter"/>
              </a:rPr>
              <a:t>In a detailed assessment of overall sales performance, the company processed a total of 6,912 orders, generating an impressive $23,141,511.83 in revenue. This equates to an average of $3,347 per order, reflecting the high value of individual transactions and the efficiency of sales operations. The alignment between order volume and revenue underscores the company’s ability to sustain profitability through both scale and transaction quality, signaling a strong foundation for continued growth and long-term customer value.</a:t>
            </a:r>
          </a:p>
        </p:txBody>
      </p:sp>
      <p:grpSp>
        <p:nvGrpSpPr>
          <p:cNvPr name="Group 13" id="13"/>
          <p:cNvGrpSpPr/>
          <p:nvPr/>
        </p:nvGrpSpPr>
        <p:grpSpPr>
          <a:xfrm rot="0">
            <a:off x="1479173" y="5287369"/>
            <a:ext cx="7935225" cy="3140411"/>
            <a:chOff x="0" y="0"/>
            <a:chExt cx="2089936" cy="827104"/>
          </a:xfrm>
        </p:grpSpPr>
        <p:sp>
          <p:nvSpPr>
            <p:cNvPr name="Freeform 14" id="14"/>
            <p:cNvSpPr/>
            <p:nvPr/>
          </p:nvSpPr>
          <p:spPr>
            <a:xfrm flipH="false" flipV="false" rot="0">
              <a:off x="0" y="0"/>
              <a:ext cx="2089936" cy="827104"/>
            </a:xfrm>
            <a:custGeom>
              <a:avLst/>
              <a:gdLst/>
              <a:ahLst/>
              <a:cxnLst/>
              <a:rect r="r" b="b" t="t" l="l"/>
              <a:pathLst>
                <a:path h="827104" w="2089936">
                  <a:moveTo>
                    <a:pt x="49758" y="0"/>
                  </a:moveTo>
                  <a:lnTo>
                    <a:pt x="2040178" y="0"/>
                  </a:lnTo>
                  <a:cubicBezTo>
                    <a:pt x="2067659" y="0"/>
                    <a:pt x="2089936" y="22277"/>
                    <a:pt x="2089936" y="49758"/>
                  </a:cubicBezTo>
                  <a:lnTo>
                    <a:pt x="2089936" y="777347"/>
                  </a:lnTo>
                  <a:cubicBezTo>
                    <a:pt x="2089936" y="804827"/>
                    <a:pt x="2067659" y="827104"/>
                    <a:pt x="2040178" y="827104"/>
                  </a:cubicBezTo>
                  <a:lnTo>
                    <a:pt x="49758" y="827104"/>
                  </a:lnTo>
                  <a:cubicBezTo>
                    <a:pt x="22277" y="827104"/>
                    <a:pt x="0" y="804827"/>
                    <a:pt x="0" y="777347"/>
                  </a:cubicBezTo>
                  <a:lnTo>
                    <a:pt x="0" y="49758"/>
                  </a:lnTo>
                  <a:cubicBezTo>
                    <a:pt x="0" y="22277"/>
                    <a:pt x="22277" y="0"/>
                    <a:pt x="49758" y="0"/>
                  </a:cubicBezTo>
                  <a:close/>
                </a:path>
              </a:pathLst>
            </a:custGeom>
            <a:solidFill>
              <a:srgbClr val="93C00C"/>
            </a:solidFill>
          </p:spPr>
        </p:sp>
        <p:sp>
          <p:nvSpPr>
            <p:cNvPr name="TextBox 15" id="15"/>
            <p:cNvSpPr txBox="true"/>
            <p:nvPr/>
          </p:nvSpPr>
          <p:spPr>
            <a:xfrm>
              <a:off x="0" y="-76200"/>
              <a:ext cx="2089936" cy="903304"/>
            </a:xfrm>
            <a:prstGeom prst="rect">
              <a:avLst/>
            </a:prstGeom>
          </p:spPr>
          <p:txBody>
            <a:bodyPr anchor="ctr" rtlCol="false" tIns="50800" lIns="50800" bIns="50800" rIns="50800"/>
            <a:lstStyle/>
            <a:p>
              <a:pPr algn="ctr">
                <a:lnSpc>
                  <a:spcPts val="5599"/>
                </a:lnSpc>
              </a:pPr>
              <a:r>
                <a:rPr lang="en-US" sz="3999" b="true">
                  <a:solidFill>
                    <a:srgbClr val="597E52"/>
                  </a:solidFill>
                  <a:latin typeface="Inter Bold"/>
                  <a:ea typeface="Inter Bold"/>
                  <a:cs typeface="Inter Bold"/>
                  <a:sym typeface="Inter Bold"/>
                </a:rPr>
                <a:t>TOTAL REVENUE</a:t>
              </a:r>
            </a:p>
            <a:p>
              <a:pPr algn="ctr">
                <a:lnSpc>
                  <a:spcPts val="5599"/>
                </a:lnSpc>
              </a:pPr>
            </a:p>
            <a:p>
              <a:pPr algn="ctr">
                <a:lnSpc>
                  <a:spcPts val="5599"/>
                </a:lnSpc>
              </a:pPr>
              <a:r>
                <a:rPr lang="en-US" b="true" sz="3999">
                  <a:solidFill>
                    <a:srgbClr val="597E52"/>
                  </a:solidFill>
                  <a:latin typeface="Inter Bold"/>
                  <a:ea typeface="Inter Bold"/>
                  <a:cs typeface="Inter Bold"/>
                  <a:sym typeface="Inter Bold"/>
                </a:rPr>
                <a:t>$23,141,511.83</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3391260" y="-373230"/>
            <a:ext cx="11191555" cy="11656782"/>
            <a:chOff x="0" y="0"/>
            <a:chExt cx="2947570" cy="3070099"/>
          </a:xfrm>
        </p:grpSpPr>
        <p:sp>
          <p:nvSpPr>
            <p:cNvPr name="Freeform 3" id="3"/>
            <p:cNvSpPr/>
            <p:nvPr/>
          </p:nvSpPr>
          <p:spPr>
            <a:xfrm flipH="false" flipV="false" rot="0">
              <a:off x="0" y="0"/>
              <a:ext cx="2947570" cy="3070099"/>
            </a:xfrm>
            <a:custGeom>
              <a:avLst/>
              <a:gdLst/>
              <a:ahLst/>
              <a:cxnLst/>
              <a:rect r="r" b="b" t="t" l="l"/>
              <a:pathLst>
                <a:path h="3070099" w="2947570">
                  <a:moveTo>
                    <a:pt x="0" y="0"/>
                  </a:moveTo>
                  <a:lnTo>
                    <a:pt x="2947570" y="0"/>
                  </a:lnTo>
                  <a:lnTo>
                    <a:pt x="2947570" y="3070099"/>
                  </a:lnTo>
                  <a:lnTo>
                    <a:pt x="0" y="3070099"/>
                  </a:lnTo>
                  <a:close/>
                </a:path>
              </a:pathLst>
            </a:custGeom>
            <a:solidFill>
              <a:srgbClr val="597E52"/>
            </a:solidFill>
          </p:spPr>
        </p:sp>
        <p:sp>
          <p:nvSpPr>
            <p:cNvPr name="TextBox 4" id="4"/>
            <p:cNvSpPr txBox="true"/>
            <p:nvPr/>
          </p:nvSpPr>
          <p:spPr>
            <a:xfrm>
              <a:off x="0" y="-38100"/>
              <a:ext cx="2947570" cy="310819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653422" y="-583896"/>
            <a:ext cx="6767902" cy="67679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7E5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272735" y="2150217"/>
            <a:ext cx="5986565" cy="598656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1365" t="0" r="-28728" b="0"/>
              </a:stretch>
            </a:blipFill>
          </p:spPr>
        </p:sp>
      </p:grpSp>
      <p:grpSp>
        <p:nvGrpSpPr>
          <p:cNvPr name="Group 10" id="10"/>
          <p:cNvGrpSpPr/>
          <p:nvPr/>
        </p:nvGrpSpPr>
        <p:grpSpPr>
          <a:xfrm rot="0">
            <a:off x="-450473" y="7552418"/>
            <a:ext cx="3542711" cy="35427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C00C"/>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6266006" y="8136783"/>
            <a:ext cx="3155318" cy="1731481"/>
          </a:xfrm>
          <a:custGeom>
            <a:avLst/>
            <a:gdLst/>
            <a:ahLst/>
            <a:cxnLst/>
            <a:rect r="r" b="b" t="t" l="l"/>
            <a:pathLst>
              <a:path h="1731481" w="3155318">
                <a:moveTo>
                  <a:pt x="0" y="0"/>
                </a:moveTo>
                <a:lnTo>
                  <a:pt x="3155318" y="0"/>
                </a:lnTo>
                <a:lnTo>
                  <a:pt x="3155318" y="1731480"/>
                </a:lnTo>
                <a:lnTo>
                  <a:pt x="0" y="1731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3879274" y="2456708"/>
            <a:ext cx="6880765" cy="6994525"/>
          </a:xfrm>
          <a:prstGeom prst="rect">
            <a:avLst/>
          </a:prstGeom>
        </p:spPr>
        <p:txBody>
          <a:bodyPr anchor="t" rtlCol="false" tIns="0" lIns="0" bIns="0" rIns="0">
            <a:spAutoFit/>
          </a:bodyPr>
          <a:lstStyle/>
          <a:p>
            <a:pPr algn="l">
              <a:lnSpc>
                <a:spcPts val="3499"/>
              </a:lnSpc>
            </a:pPr>
            <a:r>
              <a:rPr lang="en-US" sz="2499">
                <a:solidFill>
                  <a:srgbClr val="FFFFEC"/>
                </a:solidFill>
                <a:latin typeface="Inter"/>
                <a:ea typeface="Inter"/>
                <a:cs typeface="Inter"/>
                <a:sym typeface="Inter"/>
              </a:rPr>
              <a:t>In our assessment of product performance, the Standard paper emerged as the top performer with a remarkable 1,938,346 units ordered, generating a revenue of $9,672,346.54. </a:t>
            </a:r>
          </a:p>
          <a:p>
            <a:pPr algn="l">
              <a:lnSpc>
                <a:spcPts val="3499"/>
              </a:lnSpc>
            </a:pPr>
          </a:p>
          <a:p>
            <a:pPr algn="l">
              <a:lnSpc>
                <a:spcPts val="3499"/>
              </a:lnSpc>
            </a:pPr>
            <a:r>
              <a:rPr lang="en-US" sz="2499">
                <a:solidFill>
                  <a:srgbClr val="FFFFEC"/>
                </a:solidFill>
                <a:latin typeface="Inter"/>
                <a:ea typeface="Inter"/>
                <a:cs typeface="Inter"/>
                <a:sym typeface="Inter"/>
              </a:rPr>
              <a:t>This strong demand highlights the product’s broad market appeal and reliability as a consistent revenue driver. </a:t>
            </a:r>
          </a:p>
          <a:p>
            <a:pPr algn="l">
              <a:lnSpc>
                <a:spcPts val="3499"/>
              </a:lnSpc>
            </a:pPr>
          </a:p>
          <a:p>
            <a:pPr algn="l" marL="0" indent="0" lvl="0">
              <a:lnSpc>
                <a:spcPts val="3499"/>
              </a:lnSpc>
              <a:spcBef>
                <a:spcPct val="0"/>
              </a:spcBef>
            </a:pPr>
            <a:r>
              <a:rPr lang="en-US" sz="2499">
                <a:solidFill>
                  <a:srgbClr val="FFFFEC"/>
                </a:solidFill>
                <a:latin typeface="Inter"/>
                <a:ea typeface="Inter"/>
                <a:cs typeface="Inter"/>
                <a:sym typeface="Inter"/>
              </a:rPr>
              <a:t>The alignment between its high order volume and significant revenue contribution underscores its pivotal role in the company’s portfolio, positioning it as a cornerstone for sustained profitability and competitive advantage.</a:t>
            </a:r>
          </a:p>
        </p:txBody>
      </p:sp>
      <p:sp>
        <p:nvSpPr>
          <p:cNvPr name="TextBox 15" id="15"/>
          <p:cNvSpPr txBox="true"/>
          <p:nvPr/>
        </p:nvSpPr>
        <p:spPr>
          <a:xfrm rot="-5400000">
            <a:off x="-2933344" y="4299861"/>
            <a:ext cx="9077966" cy="1687278"/>
          </a:xfrm>
          <a:prstGeom prst="rect">
            <a:avLst/>
          </a:prstGeom>
        </p:spPr>
        <p:txBody>
          <a:bodyPr anchor="t" rtlCol="false" tIns="0" lIns="0" bIns="0" rIns="0">
            <a:spAutoFit/>
          </a:bodyPr>
          <a:lstStyle/>
          <a:p>
            <a:pPr algn="ctr" marL="0" indent="0" lvl="0">
              <a:lnSpc>
                <a:spcPts val="13050"/>
              </a:lnSpc>
              <a:spcBef>
                <a:spcPct val="0"/>
              </a:spcBef>
            </a:pPr>
            <a:r>
              <a:rPr lang="en-US" b="true" sz="9321">
                <a:solidFill>
                  <a:srgbClr val="597E52"/>
                </a:solidFill>
                <a:latin typeface="Poppins Bold"/>
                <a:ea typeface="Poppins Bold"/>
                <a:cs typeface="Poppins Bold"/>
                <a:sym typeface="Poppins Bold"/>
              </a:rPr>
              <a:t>Best Product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1357504" y="-451145"/>
            <a:ext cx="15390922" cy="11189290"/>
            <a:chOff x="0" y="0"/>
            <a:chExt cx="4053576" cy="2946974"/>
          </a:xfrm>
        </p:grpSpPr>
        <p:sp>
          <p:nvSpPr>
            <p:cNvPr name="Freeform 3" id="3"/>
            <p:cNvSpPr/>
            <p:nvPr/>
          </p:nvSpPr>
          <p:spPr>
            <a:xfrm flipH="false" flipV="false" rot="0">
              <a:off x="0" y="0"/>
              <a:ext cx="4053576" cy="2946974"/>
            </a:xfrm>
            <a:custGeom>
              <a:avLst/>
              <a:gdLst/>
              <a:ahLst/>
              <a:cxnLst/>
              <a:rect r="r" b="b" t="t" l="l"/>
              <a:pathLst>
                <a:path h="2946974" w="4053576">
                  <a:moveTo>
                    <a:pt x="0" y="0"/>
                  </a:moveTo>
                  <a:lnTo>
                    <a:pt x="4053576" y="0"/>
                  </a:lnTo>
                  <a:lnTo>
                    <a:pt x="4053576" y="2946974"/>
                  </a:lnTo>
                  <a:lnTo>
                    <a:pt x="0" y="2946974"/>
                  </a:lnTo>
                  <a:close/>
                </a:path>
              </a:pathLst>
            </a:custGeom>
            <a:solidFill>
              <a:srgbClr val="597E52"/>
            </a:solidFill>
          </p:spPr>
        </p:sp>
        <p:sp>
          <p:nvSpPr>
            <p:cNvPr name="TextBox 4" id="4"/>
            <p:cNvSpPr txBox="true"/>
            <p:nvPr/>
          </p:nvSpPr>
          <p:spPr>
            <a:xfrm>
              <a:off x="0" y="-38100"/>
              <a:ext cx="4053576" cy="298507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435850" y="8974425"/>
            <a:ext cx="2625150" cy="26251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AD86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03055" y="695872"/>
            <a:ext cx="3835928" cy="2104965"/>
          </a:xfrm>
          <a:custGeom>
            <a:avLst/>
            <a:gdLst/>
            <a:ahLst/>
            <a:cxnLst/>
            <a:rect r="r" b="b" t="t" l="l"/>
            <a:pathLst>
              <a:path h="2104965" w="3835928">
                <a:moveTo>
                  <a:pt x="0" y="0"/>
                </a:moveTo>
                <a:lnTo>
                  <a:pt x="3835928" y="0"/>
                </a:lnTo>
                <a:lnTo>
                  <a:pt x="3835928" y="2104966"/>
                </a:lnTo>
                <a:lnTo>
                  <a:pt x="0" y="2104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593813" y="3616797"/>
            <a:ext cx="242192" cy="6358542"/>
            <a:chOff x="0" y="0"/>
            <a:chExt cx="63787" cy="1674678"/>
          </a:xfrm>
        </p:grpSpPr>
        <p:sp>
          <p:nvSpPr>
            <p:cNvPr name="Freeform 10" id="10"/>
            <p:cNvSpPr/>
            <p:nvPr/>
          </p:nvSpPr>
          <p:spPr>
            <a:xfrm flipH="false" flipV="false" rot="0">
              <a:off x="0" y="0"/>
              <a:ext cx="63787" cy="1674678"/>
            </a:xfrm>
            <a:custGeom>
              <a:avLst/>
              <a:gdLst/>
              <a:ahLst/>
              <a:cxnLst/>
              <a:rect r="r" b="b" t="t" l="l"/>
              <a:pathLst>
                <a:path h="1674678" w="63787">
                  <a:moveTo>
                    <a:pt x="0" y="0"/>
                  </a:moveTo>
                  <a:lnTo>
                    <a:pt x="63787" y="0"/>
                  </a:lnTo>
                  <a:lnTo>
                    <a:pt x="63787" y="1674678"/>
                  </a:lnTo>
                  <a:lnTo>
                    <a:pt x="0" y="1674678"/>
                  </a:lnTo>
                  <a:close/>
                </a:path>
              </a:pathLst>
            </a:custGeom>
            <a:solidFill>
              <a:srgbClr val="597E52"/>
            </a:solidFill>
          </p:spPr>
        </p:sp>
        <p:sp>
          <p:nvSpPr>
            <p:cNvPr name="TextBox 11" id="11"/>
            <p:cNvSpPr txBox="true"/>
            <p:nvPr/>
          </p:nvSpPr>
          <p:spPr>
            <a:xfrm>
              <a:off x="0" y="-38100"/>
              <a:ext cx="63787" cy="171277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017108" y="413181"/>
            <a:ext cx="242192" cy="6358542"/>
            <a:chOff x="0" y="0"/>
            <a:chExt cx="63787" cy="1674678"/>
          </a:xfrm>
        </p:grpSpPr>
        <p:sp>
          <p:nvSpPr>
            <p:cNvPr name="Freeform 13" id="13"/>
            <p:cNvSpPr/>
            <p:nvPr/>
          </p:nvSpPr>
          <p:spPr>
            <a:xfrm flipH="false" flipV="false" rot="0">
              <a:off x="0" y="0"/>
              <a:ext cx="63787" cy="1674678"/>
            </a:xfrm>
            <a:custGeom>
              <a:avLst/>
              <a:gdLst/>
              <a:ahLst/>
              <a:cxnLst/>
              <a:rect r="r" b="b" t="t" l="l"/>
              <a:pathLst>
                <a:path h="1674678" w="63787">
                  <a:moveTo>
                    <a:pt x="0" y="0"/>
                  </a:moveTo>
                  <a:lnTo>
                    <a:pt x="63787" y="0"/>
                  </a:lnTo>
                  <a:lnTo>
                    <a:pt x="63787" y="1674678"/>
                  </a:lnTo>
                  <a:lnTo>
                    <a:pt x="0" y="1674678"/>
                  </a:lnTo>
                  <a:close/>
                </a:path>
              </a:pathLst>
            </a:custGeom>
            <a:solidFill>
              <a:srgbClr val="597E52"/>
            </a:solidFill>
          </p:spPr>
        </p:sp>
        <p:sp>
          <p:nvSpPr>
            <p:cNvPr name="TextBox 14" id="14"/>
            <p:cNvSpPr txBox="true"/>
            <p:nvPr/>
          </p:nvSpPr>
          <p:spPr>
            <a:xfrm>
              <a:off x="0" y="-38100"/>
              <a:ext cx="63787" cy="1712778"/>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328548" y="167602"/>
            <a:ext cx="13448834" cy="1493596"/>
          </a:xfrm>
          <a:prstGeom prst="rect">
            <a:avLst/>
          </a:prstGeom>
        </p:spPr>
        <p:txBody>
          <a:bodyPr anchor="t" rtlCol="false" tIns="0" lIns="0" bIns="0" rIns="0">
            <a:spAutoFit/>
          </a:bodyPr>
          <a:lstStyle/>
          <a:p>
            <a:pPr algn="ctr" marL="0" indent="0" lvl="0">
              <a:lnSpc>
                <a:spcPts val="11650"/>
              </a:lnSpc>
              <a:spcBef>
                <a:spcPct val="0"/>
              </a:spcBef>
            </a:pPr>
            <a:r>
              <a:rPr lang="en-US" b="true" sz="8322">
                <a:solidFill>
                  <a:srgbClr val="FFFFEC"/>
                </a:solidFill>
                <a:latin typeface="Poppins Bold"/>
                <a:ea typeface="Poppins Bold"/>
                <a:cs typeface="Poppins Bold"/>
                <a:sym typeface="Poppins Bold"/>
              </a:rPr>
              <a:t>Suggestion &amp; Addition</a:t>
            </a:r>
          </a:p>
        </p:txBody>
      </p:sp>
      <p:sp>
        <p:nvSpPr>
          <p:cNvPr name="TextBox 16" id="16"/>
          <p:cNvSpPr txBox="true"/>
          <p:nvPr/>
        </p:nvSpPr>
        <p:spPr>
          <a:xfrm rot="0">
            <a:off x="2513495" y="1932756"/>
            <a:ext cx="13687589" cy="7325544"/>
          </a:xfrm>
          <a:prstGeom prst="rect">
            <a:avLst/>
          </a:prstGeom>
        </p:spPr>
        <p:txBody>
          <a:bodyPr anchor="t" rtlCol="false" tIns="0" lIns="0" bIns="0" rIns="0">
            <a:spAutoFit/>
          </a:bodyPr>
          <a:lstStyle/>
          <a:p>
            <a:pPr algn="l" marL="0" indent="0" lvl="0">
              <a:lnSpc>
                <a:spcPts val="4154"/>
              </a:lnSpc>
              <a:spcBef>
                <a:spcPct val="0"/>
              </a:spcBef>
            </a:pPr>
            <a:r>
              <a:rPr lang="en-US" sz="2967">
                <a:solidFill>
                  <a:srgbClr val="FFFFEC"/>
                </a:solidFill>
                <a:latin typeface="Inter"/>
                <a:ea typeface="Inter"/>
                <a:cs typeface="Inter"/>
                <a:sym typeface="Inter"/>
              </a:rPr>
              <a:t>To sustain growth, the company should:</a:t>
            </a:r>
          </a:p>
          <a:p>
            <a:pPr algn="l" marL="0" indent="0" lvl="0">
              <a:lnSpc>
                <a:spcPts val="4154"/>
              </a:lnSpc>
              <a:spcBef>
                <a:spcPct val="0"/>
              </a:spcBef>
            </a:pPr>
          </a:p>
          <a:p>
            <a:pPr algn="l" marL="640736" indent="-320368" lvl="1">
              <a:lnSpc>
                <a:spcPts val="4154"/>
              </a:lnSpc>
              <a:spcBef>
                <a:spcPct val="0"/>
              </a:spcBef>
              <a:buFont typeface="Arial"/>
              <a:buChar char="•"/>
            </a:pPr>
            <a:r>
              <a:rPr lang="en-US" sz="2967">
                <a:solidFill>
                  <a:srgbClr val="FFFFEC"/>
                </a:solidFill>
                <a:latin typeface="Inter"/>
                <a:ea typeface="Inter"/>
                <a:cs typeface="Inter"/>
                <a:sym typeface="Inter"/>
              </a:rPr>
              <a:t>Strengthen relationships with top clients (EOG Resources, Mosaic, IBM) through dedicated account management and tailored solutions.</a:t>
            </a:r>
          </a:p>
          <a:p>
            <a:pPr algn="l" marL="640736" indent="-320368" lvl="1">
              <a:lnSpc>
                <a:spcPts val="4154"/>
              </a:lnSpc>
              <a:spcBef>
                <a:spcPct val="0"/>
              </a:spcBef>
              <a:buFont typeface="Arial"/>
              <a:buChar char="•"/>
            </a:pPr>
            <a:r>
              <a:rPr lang="en-US" sz="2967">
                <a:solidFill>
                  <a:srgbClr val="FFFFEC"/>
                </a:solidFill>
                <a:latin typeface="Inter"/>
                <a:ea typeface="Inter"/>
                <a:cs typeface="Inter"/>
                <a:sym typeface="Inter"/>
              </a:rPr>
              <a:t>Diversify its customer base to reduce reliance on a few high-value accounts.</a:t>
            </a:r>
          </a:p>
          <a:p>
            <a:pPr algn="l" marL="640736" indent="-320368" lvl="1">
              <a:lnSpc>
                <a:spcPts val="4154"/>
              </a:lnSpc>
              <a:spcBef>
                <a:spcPct val="0"/>
              </a:spcBef>
              <a:buFont typeface="Arial"/>
              <a:buChar char="•"/>
            </a:pPr>
            <a:r>
              <a:rPr lang="en-US" sz="2967">
                <a:solidFill>
                  <a:srgbClr val="FFFFEC"/>
                </a:solidFill>
                <a:latin typeface="Inter"/>
                <a:ea typeface="Inter"/>
                <a:cs typeface="Inter"/>
                <a:sym typeface="Inter"/>
              </a:rPr>
              <a:t>Enhance digital sales channels, especially on Facebook and organic platforms, to complement direct sales and capture new markets.</a:t>
            </a:r>
          </a:p>
          <a:p>
            <a:pPr algn="l" marL="640736" indent="-320368" lvl="1">
              <a:lnSpc>
                <a:spcPts val="4154"/>
              </a:lnSpc>
              <a:spcBef>
                <a:spcPct val="0"/>
              </a:spcBef>
              <a:buFont typeface="Arial"/>
              <a:buChar char="•"/>
            </a:pPr>
            <a:r>
              <a:rPr lang="en-US" sz="2967">
                <a:solidFill>
                  <a:srgbClr val="FFFFEC"/>
                </a:solidFill>
                <a:latin typeface="Inter"/>
                <a:ea typeface="Inter"/>
                <a:cs typeface="Inter"/>
                <a:sym typeface="Inter"/>
              </a:rPr>
              <a:t>Introduce bundled offers or premium variations based on the success of Standard paper to maximize profitability.</a:t>
            </a:r>
          </a:p>
          <a:p>
            <a:pPr algn="l" marL="640736" indent="-320368" lvl="1">
              <a:lnSpc>
                <a:spcPts val="4154"/>
              </a:lnSpc>
              <a:spcBef>
                <a:spcPct val="0"/>
              </a:spcBef>
              <a:buFont typeface="Arial"/>
              <a:buChar char="•"/>
            </a:pPr>
            <a:r>
              <a:rPr lang="en-US" sz="2967">
                <a:solidFill>
                  <a:srgbClr val="FFFFEC"/>
                </a:solidFill>
                <a:latin typeface="Inter"/>
                <a:ea typeface="Inter"/>
                <a:cs typeface="Inter"/>
                <a:sym typeface="Inter"/>
              </a:rPr>
              <a:t>Leverage upselling and cross-selling strategies to increase the average revenue per order of $3,347.</a:t>
            </a:r>
          </a:p>
          <a:p>
            <a:pPr algn="l" marL="640736" indent="-320368" lvl="1">
              <a:lnSpc>
                <a:spcPts val="4154"/>
              </a:lnSpc>
              <a:spcBef>
                <a:spcPct val="0"/>
              </a:spcBef>
              <a:buFont typeface="Arial"/>
              <a:buChar char="•"/>
            </a:pPr>
            <a:r>
              <a:rPr lang="en-US" sz="2967">
                <a:solidFill>
                  <a:srgbClr val="FFFFEC"/>
                </a:solidFill>
                <a:latin typeface="Inter"/>
                <a:ea typeface="Inter"/>
                <a:cs typeface="Inter"/>
                <a:sym typeface="Inter"/>
              </a:rPr>
              <a:t>Monitor customer feedback and market trends to align offerings with demand for long-term competitiveness and profitability.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EC"/>
        </a:solidFill>
      </p:bgPr>
    </p:bg>
    <p:spTree>
      <p:nvGrpSpPr>
        <p:cNvPr id="1" name=""/>
        <p:cNvGrpSpPr/>
        <p:nvPr/>
      </p:nvGrpSpPr>
      <p:grpSpPr>
        <a:xfrm>
          <a:off x="0" y="0"/>
          <a:ext cx="0" cy="0"/>
          <a:chOff x="0" y="0"/>
          <a:chExt cx="0" cy="0"/>
        </a:xfrm>
      </p:grpSpPr>
      <p:grpSp>
        <p:nvGrpSpPr>
          <p:cNvPr name="Group 2" id="2"/>
          <p:cNvGrpSpPr/>
          <p:nvPr/>
        </p:nvGrpSpPr>
        <p:grpSpPr>
          <a:xfrm rot="0">
            <a:off x="1577434" y="1329372"/>
            <a:ext cx="2502696" cy="250269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7E52"/>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828783" y="2561050"/>
            <a:ext cx="12630435" cy="4580238"/>
            <a:chOff x="0" y="0"/>
            <a:chExt cx="3326534" cy="1206318"/>
          </a:xfrm>
        </p:grpSpPr>
        <p:sp>
          <p:nvSpPr>
            <p:cNvPr name="Freeform 6" id="6"/>
            <p:cNvSpPr/>
            <p:nvPr/>
          </p:nvSpPr>
          <p:spPr>
            <a:xfrm flipH="false" flipV="false" rot="0">
              <a:off x="0" y="0"/>
              <a:ext cx="3326534" cy="1206318"/>
            </a:xfrm>
            <a:custGeom>
              <a:avLst/>
              <a:gdLst/>
              <a:ahLst/>
              <a:cxnLst/>
              <a:rect r="r" b="b" t="t" l="l"/>
              <a:pathLst>
                <a:path h="1206318" w="3326534">
                  <a:moveTo>
                    <a:pt x="0" y="0"/>
                  </a:moveTo>
                  <a:lnTo>
                    <a:pt x="3326534" y="0"/>
                  </a:lnTo>
                  <a:lnTo>
                    <a:pt x="3326534" y="1206318"/>
                  </a:lnTo>
                  <a:lnTo>
                    <a:pt x="0" y="1206318"/>
                  </a:lnTo>
                  <a:close/>
                </a:path>
              </a:pathLst>
            </a:custGeom>
            <a:solidFill>
              <a:srgbClr val="000000">
                <a:alpha val="0"/>
              </a:srgbClr>
            </a:solidFill>
            <a:ln w="38100" cap="sq">
              <a:solidFill>
                <a:srgbClr val="597E52"/>
              </a:solidFill>
              <a:prstDash val="solid"/>
              <a:miter/>
            </a:ln>
          </p:spPr>
        </p:sp>
        <p:sp>
          <p:nvSpPr>
            <p:cNvPr name="TextBox 7" id="7"/>
            <p:cNvSpPr txBox="true"/>
            <p:nvPr/>
          </p:nvSpPr>
          <p:spPr>
            <a:xfrm>
              <a:off x="0" y="-38100"/>
              <a:ext cx="3326534" cy="124441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14252" y="8642679"/>
            <a:ext cx="19716503" cy="1274666"/>
            <a:chOff x="0" y="0"/>
            <a:chExt cx="5192824" cy="335714"/>
          </a:xfrm>
        </p:grpSpPr>
        <p:sp>
          <p:nvSpPr>
            <p:cNvPr name="Freeform 9" id="9"/>
            <p:cNvSpPr/>
            <p:nvPr/>
          </p:nvSpPr>
          <p:spPr>
            <a:xfrm flipH="false" flipV="false" rot="0">
              <a:off x="0" y="0"/>
              <a:ext cx="5192824" cy="335714"/>
            </a:xfrm>
            <a:custGeom>
              <a:avLst/>
              <a:gdLst/>
              <a:ahLst/>
              <a:cxnLst/>
              <a:rect r="r" b="b" t="t" l="l"/>
              <a:pathLst>
                <a:path h="335714" w="5192824">
                  <a:moveTo>
                    <a:pt x="0" y="0"/>
                  </a:moveTo>
                  <a:lnTo>
                    <a:pt x="5192824" y="0"/>
                  </a:lnTo>
                  <a:lnTo>
                    <a:pt x="5192824" y="335714"/>
                  </a:lnTo>
                  <a:lnTo>
                    <a:pt x="0" y="335714"/>
                  </a:lnTo>
                  <a:close/>
                </a:path>
              </a:pathLst>
            </a:custGeom>
            <a:solidFill>
              <a:srgbClr val="597E52"/>
            </a:solidFill>
          </p:spPr>
        </p:sp>
        <p:sp>
          <p:nvSpPr>
            <p:cNvPr name="TextBox 10" id="10"/>
            <p:cNvSpPr txBox="true"/>
            <p:nvPr/>
          </p:nvSpPr>
          <p:spPr>
            <a:xfrm>
              <a:off x="0" y="-38100"/>
              <a:ext cx="5192824" cy="373814"/>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88407" y="5669679"/>
            <a:ext cx="3714261" cy="2038201"/>
          </a:xfrm>
          <a:custGeom>
            <a:avLst/>
            <a:gdLst/>
            <a:ahLst/>
            <a:cxnLst/>
            <a:rect r="r" b="b" t="t" l="l"/>
            <a:pathLst>
              <a:path h="2038201" w="3714261">
                <a:moveTo>
                  <a:pt x="0" y="0"/>
                </a:moveTo>
                <a:lnTo>
                  <a:pt x="3714261" y="0"/>
                </a:lnTo>
                <a:lnTo>
                  <a:pt x="3714261" y="2038201"/>
                </a:lnTo>
                <a:lnTo>
                  <a:pt x="0" y="20382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5796734" y="310272"/>
            <a:ext cx="3714261" cy="2038201"/>
          </a:xfrm>
          <a:custGeom>
            <a:avLst/>
            <a:gdLst/>
            <a:ahLst/>
            <a:cxnLst/>
            <a:rect r="r" b="b" t="t" l="l"/>
            <a:pathLst>
              <a:path h="2038201" w="3714261">
                <a:moveTo>
                  <a:pt x="0" y="0"/>
                </a:moveTo>
                <a:lnTo>
                  <a:pt x="3714261" y="0"/>
                </a:lnTo>
                <a:lnTo>
                  <a:pt x="3714261" y="2038200"/>
                </a:lnTo>
                <a:lnTo>
                  <a:pt x="0" y="2038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568724" y="310272"/>
            <a:ext cx="114521" cy="4540897"/>
            <a:chOff x="0" y="0"/>
            <a:chExt cx="30162" cy="1195956"/>
          </a:xfrm>
        </p:grpSpPr>
        <p:sp>
          <p:nvSpPr>
            <p:cNvPr name="Freeform 14" id="14"/>
            <p:cNvSpPr/>
            <p:nvPr/>
          </p:nvSpPr>
          <p:spPr>
            <a:xfrm flipH="false" flipV="false" rot="0">
              <a:off x="0" y="0"/>
              <a:ext cx="30162" cy="1195956"/>
            </a:xfrm>
            <a:custGeom>
              <a:avLst/>
              <a:gdLst/>
              <a:ahLst/>
              <a:cxnLst/>
              <a:rect r="r" b="b" t="t" l="l"/>
              <a:pathLst>
                <a:path h="1195956" w="30162">
                  <a:moveTo>
                    <a:pt x="0" y="0"/>
                  </a:moveTo>
                  <a:lnTo>
                    <a:pt x="30162" y="0"/>
                  </a:lnTo>
                  <a:lnTo>
                    <a:pt x="30162" y="1195956"/>
                  </a:lnTo>
                  <a:lnTo>
                    <a:pt x="0" y="1195956"/>
                  </a:lnTo>
                  <a:close/>
                </a:path>
              </a:pathLst>
            </a:custGeom>
            <a:solidFill>
              <a:srgbClr val="597E52"/>
            </a:solidFill>
          </p:spPr>
        </p:sp>
        <p:sp>
          <p:nvSpPr>
            <p:cNvPr name="TextBox 15" id="15"/>
            <p:cNvSpPr txBox="true"/>
            <p:nvPr/>
          </p:nvSpPr>
          <p:spPr>
            <a:xfrm>
              <a:off x="0" y="-38100"/>
              <a:ext cx="30162" cy="1234056"/>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7653864" y="3729417"/>
            <a:ext cx="114521" cy="4540897"/>
            <a:chOff x="0" y="0"/>
            <a:chExt cx="30162" cy="1195956"/>
          </a:xfrm>
        </p:grpSpPr>
        <p:sp>
          <p:nvSpPr>
            <p:cNvPr name="Freeform 17" id="17"/>
            <p:cNvSpPr/>
            <p:nvPr/>
          </p:nvSpPr>
          <p:spPr>
            <a:xfrm flipH="false" flipV="false" rot="0">
              <a:off x="0" y="0"/>
              <a:ext cx="30162" cy="1195956"/>
            </a:xfrm>
            <a:custGeom>
              <a:avLst/>
              <a:gdLst/>
              <a:ahLst/>
              <a:cxnLst/>
              <a:rect r="r" b="b" t="t" l="l"/>
              <a:pathLst>
                <a:path h="1195956" w="30162">
                  <a:moveTo>
                    <a:pt x="0" y="0"/>
                  </a:moveTo>
                  <a:lnTo>
                    <a:pt x="30162" y="0"/>
                  </a:lnTo>
                  <a:lnTo>
                    <a:pt x="30162" y="1195956"/>
                  </a:lnTo>
                  <a:lnTo>
                    <a:pt x="0" y="1195956"/>
                  </a:lnTo>
                  <a:close/>
                </a:path>
              </a:pathLst>
            </a:custGeom>
            <a:solidFill>
              <a:srgbClr val="597E52"/>
            </a:solidFill>
          </p:spPr>
        </p:sp>
        <p:sp>
          <p:nvSpPr>
            <p:cNvPr name="TextBox 18" id="18"/>
            <p:cNvSpPr txBox="true"/>
            <p:nvPr/>
          </p:nvSpPr>
          <p:spPr>
            <a:xfrm>
              <a:off x="0" y="-38100"/>
              <a:ext cx="30162" cy="1234056"/>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3872263" y="8966769"/>
            <a:ext cx="3386799" cy="529811"/>
          </a:xfrm>
          <a:prstGeom prst="rect">
            <a:avLst/>
          </a:prstGeom>
        </p:spPr>
        <p:txBody>
          <a:bodyPr anchor="t" rtlCol="false" tIns="0" lIns="0" bIns="0" rIns="0">
            <a:spAutoFit/>
          </a:bodyPr>
          <a:lstStyle/>
          <a:p>
            <a:pPr algn="r" marL="0" indent="0" lvl="0">
              <a:lnSpc>
                <a:spcPts val="4397"/>
              </a:lnSpc>
              <a:spcBef>
                <a:spcPct val="0"/>
              </a:spcBef>
            </a:pPr>
            <a:r>
              <a:rPr lang="en-US" sz="3141">
                <a:solidFill>
                  <a:srgbClr val="FFFFEC"/>
                </a:solidFill>
                <a:latin typeface="Inter"/>
                <a:ea typeface="Inter"/>
                <a:cs typeface="Inter"/>
                <a:sym typeface="Inter"/>
              </a:rPr>
              <a:t>September 2024</a:t>
            </a:r>
          </a:p>
        </p:txBody>
      </p:sp>
      <p:sp>
        <p:nvSpPr>
          <p:cNvPr name="TextBox 20" id="20"/>
          <p:cNvSpPr txBox="true"/>
          <p:nvPr/>
        </p:nvSpPr>
        <p:spPr>
          <a:xfrm rot="0">
            <a:off x="1380088" y="8986543"/>
            <a:ext cx="5133822" cy="529811"/>
          </a:xfrm>
          <a:prstGeom prst="rect">
            <a:avLst/>
          </a:prstGeom>
        </p:spPr>
        <p:txBody>
          <a:bodyPr anchor="t" rtlCol="false" tIns="0" lIns="0" bIns="0" rIns="0">
            <a:spAutoFit/>
          </a:bodyPr>
          <a:lstStyle/>
          <a:p>
            <a:pPr algn="l" marL="0" indent="0" lvl="0">
              <a:lnSpc>
                <a:spcPts val="4397"/>
              </a:lnSpc>
              <a:spcBef>
                <a:spcPct val="0"/>
              </a:spcBef>
            </a:pPr>
            <a:r>
              <a:rPr lang="en-US" sz="3141">
                <a:solidFill>
                  <a:srgbClr val="FFFFEC"/>
                </a:solidFill>
                <a:latin typeface="Inter"/>
                <a:ea typeface="Inter"/>
                <a:cs typeface="Inter"/>
                <a:sym typeface="Inter"/>
              </a:rPr>
              <a:t>Pipeline Pioneers</a:t>
            </a:r>
          </a:p>
        </p:txBody>
      </p:sp>
      <p:sp>
        <p:nvSpPr>
          <p:cNvPr name="TextBox 21" id="21"/>
          <p:cNvSpPr txBox="true"/>
          <p:nvPr/>
        </p:nvSpPr>
        <p:spPr>
          <a:xfrm rot="0">
            <a:off x="2491266" y="2539870"/>
            <a:ext cx="13305468" cy="2959657"/>
          </a:xfrm>
          <a:prstGeom prst="rect">
            <a:avLst/>
          </a:prstGeom>
        </p:spPr>
        <p:txBody>
          <a:bodyPr anchor="t" rtlCol="false" tIns="0" lIns="0" bIns="0" rIns="0">
            <a:spAutoFit/>
          </a:bodyPr>
          <a:lstStyle/>
          <a:p>
            <a:pPr algn="ctr" marL="0" indent="0" lvl="0">
              <a:lnSpc>
                <a:spcPts val="22946"/>
              </a:lnSpc>
              <a:spcBef>
                <a:spcPct val="0"/>
              </a:spcBef>
            </a:pPr>
            <a:r>
              <a:rPr lang="en-US" b="true" sz="16390">
                <a:solidFill>
                  <a:srgbClr val="597E52"/>
                </a:solidFill>
                <a:latin typeface="Poppins Bold"/>
                <a:ea typeface="Poppins Bold"/>
                <a:cs typeface="Poppins Bold"/>
                <a:sym typeface="Poppins Bold"/>
              </a:rPr>
              <a:t>Thank You</a:t>
            </a:r>
          </a:p>
        </p:txBody>
      </p:sp>
      <p:sp>
        <p:nvSpPr>
          <p:cNvPr name="TextBox 22" id="22"/>
          <p:cNvSpPr txBox="true"/>
          <p:nvPr/>
        </p:nvSpPr>
        <p:spPr>
          <a:xfrm rot="0">
            <a:off x="2491266" y="5536329"/>
            <a:ext cx="13305468" cy="875900"/>
          </a:xfrm>
          <a:prstGeom prst="rect">
            <a:avLst/>
          </a:prstGeom>
        </p:spPr>
        <p:txBody>
          <a:bodyPr anchor="t" rtlCol="false" tIns="0" lIns="0" bIns="0" rIns="0">
            <a:spAutoFit/>
          </a:bodyPr>
          <a:lstStyle/>
          <a:p>
            <a:pPr algn="ctr" marL="0" indent="0" lvl="0">
              <a:lnSpc>
                <a:spcPts val="6844"/>
              </a:lnSpc>
              <a:spcBef>
                <a:spcPct val="0"/>
              </a:spcBef>
            </a:pPr>
            <a:r>
              <a:rPr lang="en-US" sz="4889" spc="2097">
                <a:solidFill>
                  <a:srgbClr val="000000"/>
                </a:solidFill>
                <a:latin typeface="Poppins"/>
                <a:ea typeface="Poppins"/>
                <a:cs typeface="Poppins"/>
                <a:sym typeface="Poppins"/>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DAGyb07pg8I</dc:identifier>
  <dcterms:modified xsi:type="dcterms:W3CDTF">2011-08-01T06:04:30Z</dcterms:modified>
  <cp:revision>1</cp:revision>
  <dc:title>Circle-4 CDE Assessment</dc:title>
</cp:coreProperties>
</file>